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1811000" y="-1524000"/>
            <a:ext cx="8763000" cy="87630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3335000" y="3619500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13339763" y="3624263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2763500" y="4143375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2768263" y="4148138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2192000" y="4667250"/>
            <a:ext cx="40005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12401550" y="4953000"/>
            <a:ext cx="171450" cy="171450"/>
          </a:xfrm>
          <a:prstGeom prst="roundRect">
            <a:avLst>
              <a:gd name="adj" fmla="val 27777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2668250" y="4876800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运维工作台</a:t>
            </a:r>
          </a:p>
        </p:txBody>
      </p:sp>
      <p:sp>
        <p:nvSpPr>
          <p:cNvPr id="11" name="Rectangle"/>
          <p:cNvSpPr/>
          <p:nvPr/>
        </p:nvSpPr>
        <p:spPr>
          <a:xfrm>
            <a:off x="12401550" y="5334000"/>
            <a:ext cx="3581400" cy="152400"/>
          </a:xfrm>
          <a:prstGeom prst="roundRect">
            <a:avLst>
              <a:gd name="adj" fmla="val 25000"/>
            </a:avLst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2401550" y="5619750"/>
            <a:ext cx="2857500" cy="152400"/>
          </a:xfrm>
          <a:prstGeom prst="roundRect">
            <a:avLst>
              <a:gd name="adj" fmla="val 25000"/>
            </a:avLst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12401550" y="6115050"/>
            <a:ext cx="3581400" cy="838200"/>
          </a:xfrm>
          <a:custGeom>
            <a:avLst/>
            <a:gdLst/>
            <a:ahLst/>
            <a:cxnLst/>
            <a:rect l="0" t="0" r="r" b="b"/>
            <a:pathLst>
              <a:path w="3581400" h="838200">
                <a:moveTo>
                  <a:pt x="0" y="571500"/>
                </a:moveTo>
                <a:lnTo>
                  <a:pt x="590550" y="381000"/>
                </a:lnTo>
                <a:lnTo>
                  <a:pt x="1181100" y="476250"/>
                </a:lnTo>
                <a:lnTo>
                  <a:pt x="1790700" y="152400"/>
                </a:lnTo>
                <a:lnTo>
                  <a:pt x="2381250" y="285750"/>
                </a:lnTo>
                <a:lnTo>
                  <a:pt x="2990850" y="0"/>
                </a:lnTo>
                <a:lnTo>
                  <a:pt x="3581400" y="114300"/>
                </a:lnTo>
                <a:lnTo>
                  <a:pt x="3581400" y="838200"/>
                </a:lnTo>
                <a:lnTo>
                  <a:pt x="0" y="838200"/>
                </a:lnTo>
                <a:lnTo>
                  <a:pt x="0" y="571500"/>
                </a:lnTo>
                <a:close/>
              </a:path>
            </a:pathLst>
          </a:custGeom>
          <a:solidFill>
            <a:srgbClr val="2563EB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12385950" y="6100588"/>
            <a:ext cx="3612335" cy="601563"/>
          </a:xfrm>
          <a:custGeom>
            <a:avLst/>
            <a:gdLst/>
            <a:ahLst/>
            <a:cxnLst/>
            <a:rect l="0" t="0" r="r" b="b"/>
            <a:pathLst>
              <a:path w="3612335" h="601563">
                <a:moveTo>
                  <a:pt x="11214" y="572365"/>
                </a:moveTo>
                <a:lnTo>
                  <a:pt x="601764" y="381865"/>
                </a:lnTo>
                <a:quadBezTo>
                  <a:pt x="603376" y="381344"/>
                  <a:pt x="605065" y="381216"/>
                </a:quadBezTo>
                <a:quadBezTo>
                  <a:pt x="606753" y="381086"/>
                  <a:pt x="608425" y="381357"/>
                </a:quadBezTo>
                <a:lnTo>
                  <a:pt x="1194236" y="475843"/>
                </a:lnTo>
                <a:lnTo>
                  <a:pt x="1799597" y="154245"/>
                </a:lnTo>
                <a:quadBezTo>
                  <a:pt x="1801860" y="153035"/>
                  <a:pt x="1804404" y="152701"/>
                </a:quadBezTo>
                <a:quadBezTo>
                  <a:pt x="1806946" y="152354"/>
                  <a:pt x="1809447" y="152926"/>
                </a:quadBezTo>
                <a:lnTo>
                  <a:pt x="2395220" y="285197"/>
                </a:lnTo>
                <a:lnTo>
                  <a:pt x="3000386" y="1526"/>
                </a:lnTo>
                <a:quadBezTo>
                  <a:pt x="3002438" y="559"/>
                  <a:pt x="3004689" y="284"/>
                </a:quadBezTo>
                <a:quadBezTo>
                  <a:pt x="3006939" y="0"/>
                  <a:pt x="3009165" y="435"/>
                </a:quadBezTo>
                <a:lnTo>
                  <a:pt x="3599715" y="114735"/>
                </a:lnTo>
                <a:quadBezTo>
                  <a:pt x="3605628" y="115704"/>
                  <a:pt x="3608839" y="120764"/>
                </a:quadBezTo>
                <a:quadBezTo>
                  <a:pt x="3612335" y="125630"/>
                  <a:pt x="3611028" y="131477"/>
                </a:quadBezTo>
                <a:quadBezTo>
                  <a:pt x="3610059" y="137391"/>
                  <a:pt x="3604999" y="140601"/>
                </a:quadBezTo>
                <a:quadBezTo>
                  <a:pt x="3600133" y="144097"/>
                  <a:pt x="3594286" y="142790"/>
                </a:quadBezTo>
                <a:lnTo>
                  <a:pt x="3008303" y="29374"/>
                </a:lnTo>
                <a:lnTo>
                  <a:pt x="2402914" y="313149"/>
                </a:lnTo>
                <a:quadBezTo>
                  <a:pt x="2400760" y="314165"/>
                  <a:pt x="2398392" y="314417"/>
                </a:quadBezTo>
                <a:quadBezTo>
                  <a:pt x="2396025" y="314679"/>
                  <a:pt x="2393703" y="314149"/>
                </a:quadBezTo>
                <a:lnTo>
                  <a:pt x="1808323" y="181966"/>
                </a:lnTo>
                <a:lnTo>
                  <a:pt x="1203403" y="503330"/>
                </a:lnTo>
                <a:quadBezTo>
                  <a:pt x="1201342" y="504431"/>
                  <a:pt x="1199036" y="504808"/>
                </a:quadBezTo>
                <a:quadBezTo>
                  <a:pt x="1196732" y="505195"/>
                  <a:pt x="1194425" y="504818"/>
                </a:quadBezTo>
                <a:lnTo>
                  <a:pt x="607267" y="410115"/>
                </a:lnTo>
                <a:lnTo>
                  <a:pt x="19987" y="599560"/>
                </a:lnTo>
                <a:quadBezTo>
                  <a:pt x="14339" y="601563"/>
                  <a:pt x="9087" y="598679"/>
                </a:quadBezTo>
                <a:quadBezTo>
                  <a:pt x="3678" y="596102"/>
                  <a:pt x="2003" y="590349"/>
                </a:quadBezTo>
                <a:quadBezTo>
                  <a:pt x="0" y="584701"/>
                  <a:pt x="2884" y="579449"/>
                </a:quadBezTo>
                <a:quadBezTo>
                  <a:pt x="5461" y="574040"/>
                  <a:pt x="11214" y="572365"/>
                </a:quadBez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15344775" y="6067425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ath"/>
          <p:cNvSpPr/>
          <p:nvPr/>
        </p:nvSpPr>
        <p:spPr>
          <a:xfrm>
            <a:off x="12401550" y="6938963"/>
            <a:ext cx="3581400" cy="9525"/>
          </a:xfrm>
          <a:custGeom>
            <a:avLst/>
            <a:gdLst/>
            <a:ahLst/>
            <a:cxnLst/>
            <a:rect l="0" t="0" r="r" b="b"/>
            <a:pathLst>
              <a:path w="3581400" h="9525">
                <a:moveTo>
                  <a:pt x="3581400" y="0"/>
                </a:moveTo>
                <a:lnTo>
                  <a:pt x="3581400" y="9525"/>
                </a:lnTo>
                <a:lnTo>
                  <a:pt x="0" y="9525"/>
                </a:lnTo>
                <a:lnTo>
                  <a:pt x="0" y="0"/>
                </a:lnTo>
                <a:lnTo>
                  <a:pt x="3581400" y="0"/>
                </a:lnTo>
                <a:close/>
              </a:path>
            </a:pathLst>
          </a:cu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"/>
          <p:cNvSpPr/>
          <p:nvPr/>
        </p:nvSpPr>
        <p:spPr>
          <a:xfrm>
            <a:off x="12196763" y="4672013"/>
            <a:ext cx="39909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52500" y="24955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143000" y="2000250"/>
            <a:ext cx="649894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终期答辩 · 2026-09-22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143000" y="2495550"/>
            <a:ext cx="80010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7800"/>
              </a:lnSpc>
            </a:pPr>
            <a:r>
              <a:rPr lang="zh-CN" sz="63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高校实验室资产与报修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43000" y="3486150"/>
            <a:ext cx="3200400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7800"/>
              </a:lnSpc>
            </a:pPr>
            <a:r>
              <a:rPr lang="zh-CN" sz="63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管理平台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43000" y="4876800"/>
            <a:ext cx="975451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600"/>
              </a:lnSpc>
            </a:pPr>
            <a:r>
              <a:rPr lang="en-US" sz="24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+ 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43000" y="6153150"/>
            <a:ext cx="545908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6 组 · 软件工程 2023-2 · 授课教师 </a:t>
            </a:r>
          </a:p>
        </p:txBody>
      </p:sp>
      <p:sp>
        <p:nvSpPr>
          <p:cNvPr id="24" name="Rectangle"/>
          <p:cNvSpPr/>
          <p:nvPr/>
        </p:nvSpPr>
        <p:spPr>
          <a:xfrm>
            <a:off x="1143000" y="89535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3893831" y="9124950"/>
            <a:ext cx="32511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RuoYi-Vue 3.9.2 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143000" y="6591300"/>
            <a:ext cx="7393839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巴力江·托力肯别克 · 廖煌 · 迪丽热巴·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5881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2801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台账、工单、统计各自为政，其实是同一个缺口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990097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48100"/>
            <a:ext cx="3217126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Excel 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543425"/>
            <a:ext cx="4533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资产调拨、报废没有留痕，学期末账实不符，查不出是谁改的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913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8580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02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0" y="3848100"/>
            <a:ext cx="25908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报修靠微信群喊人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858000" y="4543425"/>
            <a:ext cx="42672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谁报的、谁在修、修到第几步全靠记忆，超时无人催办</a:t>
            </a:r>
          </a:p>
        </p:txBody>
      </p:sp>
      <p:sp>
        <p:nvSpPr>
          <p:cNvPr id="15" name="Rectangle"/>
          <p:cNvSpPr/>
          <p:nvPr/>
        </p:nvSpPr>
        <p:spPr>
          <a:xfrm>
            <a:off x="65960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39600" y="3048000"/>
            <a:ext cx="5105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306300" y="3314700"/>
            <a:ext cx="7095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03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306300" y="3848100"/>
            <a:ext cx="19431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没有统计数据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306300" y="4543425"/>
            <a:ext cx="4533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一学期修了多少次、哪台设备最常坏、维修费花了多少，完全说不清</a:t>
            </a:r>
          </a:p>
        </p:txBody>
      </p:sp>
      <p:sp>
        <p:nvSpPr>
          <p:cNvPr id="20" name="Rectangle"/>
          <p:cNvSpPr/>
          <p:nvPr/>
        </p:nvSpPr>
        <p:spPr>
          <a:xfrm>
            <a:off x="12044363" y="3052763"/>
            <a:ext cx="5095875" cy="3419475"/>
          </a:xfrm>
          <a:prstGeom prst="roundRect">
            <a:avLst>
              <a:gd name="adj" fmla="val 20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7010400"/>
            <a:ext cx="16002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47800" y="7277100"/>
            <a:ext cx="11430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一句话定位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447800" y="7724775"/>
            <a:ext cx="10987887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7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+ </a:t>
            </a:r>
          </a:p>
        </p:txBody>
      </p:sp>
      <p:sp>
        <p:nvSpPr>
          <p:cNvPr id="24" name="Rectangle"/>
          <p:cNvSpPr/>
          <p:nvPr/>
        </p:nvSpPr>
        <p:spPr>
          <a:xfrm>
            <a:off x="1147763" y="7015163"/>
            <a:ext cx="15992475" cy="1419225"/>
          </a:xfrm>
          <a:prstGeom prst="roundRect">
            <a:avLst>
              <a:gd name="adj" fmla="val 503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143000" y="9277350"/>
            <a:ext cx="756978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15824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自定义代码只住一个包，不污染若依脚手架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97312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com.ruoyi.project.laboratory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29527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33500" y="3133725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展示层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33500" y="3571875"/>
            <a:ext cx="273169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Vue 3.5 · Element Plus 2.13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5562600" y="3333750"/>
            <a:ext cx="274388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+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3152634" y="3352800"/>
            <a:ext cx="380144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views/laboratory/**　views/index.vue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29575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143000" y="41719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333500" y="4352925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业务层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333500" y="4791075"/>
            <a:ext cx="35187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Spring Boot 2.5.15 · Security + JWT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5562600" y="4552950"/>
            <a:ext cx="419366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Controller + Service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4062081" y="4572000"/>
            <a:ext cx="288906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com.ruoyi.project.laboratory</a:t>
            </a:r>
          </a:p>
        </p:txBody>
      </p:sp>
      <p:sp>
        <p:nvSpPr>
          <p:cNvPr id="17" name="Rectangle"/>
          <p:cNvSpPr/>
          <p:nvPr/>
        </p:nvSpPr>
        <p:spPr>
          <a:xfrm>
            <a:off x="1147763" y="41767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143000" y="53911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33500" y="557212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持久化层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333500" y="6010275"/>
            <a:ext cx="226565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MyBatis · Mapper XML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5562600" y="5772150"/>
            <a:ext cx="365874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Mapper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3365328" y="5791200"/>
            <a:ext cx="3589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resources/mybatis/laboratory/*.xml</a:t>
            </a:r>
          </a:p>
        </p:txBody>
      </p:sp>
      <p:sp>
        <p:nvSpPr>
          <p:cNvPr id="23" name="Rectangle"/>
          <p:cNvSpPr/>
          <p:nvPr/>
        </p:nvSpPr>
        <p:spPr>
          <a:xfrm>
            <a:off x="1147763" y="53959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143000" y="6610350"/>
            <a:ext cx="16002000" cy="108585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333500" y="679132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数据库层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333500" y="7229475"/>
            <a:ext cx="292552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MySQL 8 · education_system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5562600" y="6991350"/>
            <a:ext cx="424304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5 张业务表 + 4 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2226005" y="7010400"/>
            <a:ext cx="472849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lab_room · lab_asset · lab_repair · *_record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6615113"/>
            <a:ext cx="15992475" cy="1076325"/>
          </a:xfrm>
          <a:prstGeom prst="roundRect">
            <a:avLst>
              <a:gd name="adj" fmla="val 66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43000" y="9277350"/>
            <a:ext cx="130126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SOLID 落点：SRP LabRepairServiceImpl 不碰资产表 · OCP LabRoleUtils＋LabConstants · ISP 四个接口各自成域 · DIP 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6503776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03 / 14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43000" y="8162925"/>
            <a:ext cx="1371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四个业务模块</a:t>
            </a:r>
          </a:p>
        </p:txBody>
      </p:sp>
      <p:sp>
        <p:nvSpPr>
          <p:cNvPr id="34" name="Rectangle"/>
          <p:cNvSpPr/>
          <p:nvPr/>
        </p:nvSpPr>
        <p:spPr>
          <a:xfrm>
            <a:off x="2647950" y="802957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27813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2990850" y="8162925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实验室房间</a:t>
            </a:r>
          </a:p>
        </p:txBody>
      </p:sp>
      <p:sp>
        <p:nvSpPr>
          <p:cNvPr id="37" name="Rectangle"/>
          <p:cNvSpPr/>
          <p:nvPr/>
        </p:nvSpPr>
        <p:spPr>
          <a:xfrm>
            <a:off x="2652713" y="8034338"/>
            <a:ext cx="16097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4400550" y="8029575"/>
            <a:ext cx="13906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4533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4743450" y="8162925"/>
            <a:ext cx="914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资产台账</a:t>
            </a:r>
          </a:p>
        </p:txBody>
      </p:sp>
      <p:sp>
        <p:nvSpPr>
          <p:cNvPr id="41" name="Rectangle"/>
          <p:cNvSpPr/>
          <p:nvPr/>
        </p:nvSpPr>
        <p:spPr>
          <a:xfrm>
            <a:off x="4405313" y="8034338"/>
            <a:ext cx="13811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"/>
          <p:cNvSpPr/>
          <p:nvPr/>
        </p:nvSpPr>
        <p:spPr>
          <a:xfrm>
            <a:off x="5924550" y="8029575"/>
            <a:ext cx="13906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6057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"/>
          <p:cNvSpPr txBox="1"/>
          <p:nvPr/>
        </p:nvSpPr>
        <p:spPr>
          <a:xfrm>
            <a:off x="6267450" y="8162925"/>
            <a:ext cx="914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设备报修</a:t>
            </a:r>
          </a:p>
        </p:txBody>
      </p:sp>
      <p:sp>
        <p:nvSpPr>
          <p:cNvPr id="45" name="Rectangle"/>
          <p:cNvSpPr/>
          <p:nvPr/>
        </p:nvSpPr>
        <p:spPr>
          <a:xfrm>
            <a:off x="5929313" y="8034338"/>
            <a:ext cx="13811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7448550" y="802957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"/>
          <p:cNvSpPr/>
          <p:nvPr/>
        </p:nvSpPr>
        <p:spPr>
          <a:xfrm>
            <a:off x="7581900" y="8267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"/>
          <p:cNvSpPr txBox="1"/>
          <p:nvPr/>
        </p:nvSpPr>
        <p:spPr>
          <a:xfrm>
            <a:off x="7791450" y="8162925"/>
            <a:ext cx="1143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运维工作台</a:t>
            </a:r>
          </a:p>
        </p:txBody>
      </p:sp>
      <p:sp>
        <p:nvSpPr>
          <p:cNvPr id="49" name="Rectangle"/>
          <p:cNvSpPr/>
          <p:nvPr/>
        </p:nvSpPr>
        <p:spPr>
          <a:xfrm>
            <a:off x="7453313" y="8034338"/>
            <a:ext cx="1609725" cy="581025"/>
          </a:xfrm>
          <a:prstGeom prst="roundRect">
            <a:avLst>
              <a:gd name="adj" fmla="val 122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"/>
          <p:cNvSpPr txBox="1"/>
          <p:nvPr/>
        </p:nvSpPr>
        <p:spPr>
          <a:xfrm>
            <a:off x="12104694" y="8153400"/>
            <a:ext cx="504030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/laboratory/{room|asset|repair|dashboard}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7880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6000"/>
              </a:lnSpc>
            </a:pPr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资产状态由报修工单驱动，不允许手工改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788125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validateStatusChange </a:t>
            </a:r>
          </a:p>
        </p:txBody>
      </p:sp>
      <p:sp>
        <p:nvSpPr>
          <p:cNvPr id="6" name="Rectangle"/>
          <p:cNvSpPr/>
          <p:nvPr/>
        </p:nvSpPr>
        <p:spPr>
          <a:xfrm>
            <a:off x="17621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FFFB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2852080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B45309"/>
                </a:solidFill>
                <a:latin typeface="Noto Sans SC"/>
                <a:ea typeface="Noto Sans SC"/>
                <a:cs typeface="Noto Sans SC"/>
              </a:rPr>
              <a:t> 0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6860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待审核</a:t>
            </a:r>
          </a:p>
        </p:txBody>
      </p:sp>
      <p:sp>
        <p:nvSpPr>
          <p:cNvPr id="9" name="Rectangle"/>
          <p:cNvSpPr/>
          <p:nvPr/>
        </p:nvSpPr>
        <p:spPr>
          <a:xfrm>
            <a:off x="17716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F59E0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45337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55426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47244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审核通过</a:t>
            </a:r>
          </a:p>
        </p:txBody>
      </p:sp>
      <p:sp>
        <p:nvSpPr>
          <p:cNvPr id="13" name="Rectangle"/>
          <p:cNvSpPr/>
          <p:nvPr/>
        </p:nvSpPr>
        <p:spPr>
          <a:xfrm>
            <a:off x="57626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6852580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 1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6865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待维修</a:t>
            </a:r>
          </a:p>
        </p:txBody>
      </p:sp>
      <p:sp>
        <p:nvSpPr>
          <p:cNvPr id="16" name="Rectangle"/>
          <p:cNvSpPr/>
          <p:nvPr/>
        </p:nvSpPr>
        <p:spPr>
          <a:xfrm>
            <a:off x="57721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Path"/>
          <p:cNvSpPr/>
          <p:nvPr/>
        </p:nvSpPr>
        <p:spPr>
          <a:xfrm>
            <a:off x="85342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ath"/>
          <p:cNvSpPr/>
          <p:nvPr/>
        </p:nvSpPr>
        <p:spPr>
          <a:xfrm>
            <a:off x="95431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87249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开始维修</a:t>
            </a:r>
          </a:p>
        </p:txBody>
      </p:sp>
      <p:sp>
        <p:nvSpPr>
          <p:cNvPr id="20" name="Path"/>
          <p:cNvSpPr/>
          <p:nvPr/>
        </p:nvSpPr>
        <p:spPr>
          <a:xfrm>
            <a:off x="12534785" y="3667010"/>
            <a:ext cx="1067030" cy="19280"/>
          </a:xfrm>
          <a:custGeom>
            <a:avLst/>
            <a:gdLst/>
            <a:ahLst/>
            <a:cxnLst/>
            <a:rect l="0" t="0" r="r" b="b"/>
            <a:pathLst>
              <a:path w="1067030" h="19280">
                <a:moveTo>
                  <a:pt x="9640" y="115"/>
                </a:moveTo>
                <a:lnTo>
                  <a:pt x="1057390" y="115"/>
                </a:lnTo>
                <a:quadBezTo>
                  <a:pt x="1061383" y="0"/>
                  <a:pt x="1064125" y="2905"/>
                </a:quadBezTo>
                <a:quadBezTo>
                  <a:pt x="1067030" y="5647"/>
                  <a:pt x="1066915" y="9640"/>
                </a:quadBezTo>
                <a:quadBezTo>
                  <a:pt x="1067030" y="13633"/>
                  <a:pt x="1064125" y="16375"/>
                </a:quadBezTo>
                <a:quadBezTo>
                  <a:pt x="1061383" y="19280"/>
                  <a:pt x="10573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ath"/>
          <p:cNvSpPr/>
          <p:nvPr/>
        </p:nvSpPr>
        <p:spPr>
          <a:xfrm>
            <a:off x="13543667" y="3599567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2725400" y="3219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维修完成</a:t>
            </a:r>
          </a:p>
        </p:txBody>
      </p:sp>
      <p:sp>
        <p:nvSpPr>
          <p:cNvPr id="23" name="Rectangle"/>
          <p:cNvSpPr/>
          <p:nvPr/>
        </p:nvSpPr>
        <p:spPr>
          <a:xfrm>
            <a:off x="97631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0853081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2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06870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维修中</a:t>
            </a:r>
          </a:p>
        </p:txBody>
      </p:sp>
      <p:sp>
        <p:nvSpPr>
          <p:cNvPr id="26" name="Rectangle"/>
          <p:cNvSpPr/>
          <p:nvPr/>
        </p:nvSpPr>
        <p:spPr>
          <a:xfrm>
            <a:off x="97726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3763625" y="3048000"/>
            <a:ext cx="2762250" cy="1200150"/>
          </a:xfrm>
          <a:prstGeom prst="roundRect">
            <a:avLst>
              <a:gd name="adj" fmla="val 6349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4853581" y="327660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3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4687550" y="361950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已完成</a:t>
            </a:r>
          </a:p>
        </p:txBody>
      </p:sp>
      <p:sp>
        <p:nvSpPr>
          <p:cNvPr id="30" name="Rectangle"/>
          <p:cNvSpPr/>
          <p:nvPr/>
        </p:nvSpPr>
        <p:spPr>
          <a:xfrm>
            <a:off x="13773150" y="3057525"/>
            <a:ext cx="2743200" cy="1181100"/>
          </a:xfrm>
          <a:prstGeom prst="roundRect">
            <a:avLst>
              <a:gd name="adj" fmla="val 5645"/>
            </a:avLst>
          </a:prstGeom>
          <a:noFill/>
          <a:ln w="19050">
            <a:solidFill>
              <a:srgbClr val="15803D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"/>
          <p:cNvSpPr/>
          <p:nvPr/>
        </p:nvSpPr>
        <p:spPr>
          <a:xfrm>
            <a:off x="3133610" y="4257560"/>
            <a:ext cx="19280" cy="400280"/>
          </a:xfrm>
          <a:custGeom>
            <a:avLst/>
            <a:gdLst/>
            <a:ahLst/>
            <a:cxnLst/>
            <a:rect l="0" t="0" r="r" b="b"/>
            <a:pathLst>
              <a:path w="19280" h="400280">
                <a:moveTo>
                  <a:pt x="19165" y="9640"/>
                </a:moveTo>
                <a:lnTo>
                  <a:pt x="19165" y="390640"/>
                </a:lnTo>
                <a:quadBezTo>
                  <a:pt x="19280" y="394633"/>
                  <a:pt x="16375" y="397375"/>
                </a:quadBezTo>
                <a:quadBezTo>
                  <a:pt x="13633" y="400280"/>
                  <a:pt x="9640" y="400165"/>
                </a:quadBezTo>
                <a:quadBezTo>
                  <a:pt x="5647" y="400280"/>
                  <a:pt x="2905" y="397375"/>
                </a:quadBezTo>
                <a:quadBezTo>
                  <a:pt x="0" y="394633"/>
                  <a:pt x="115" y="390640"/>
                </a:quadBezTo>
                <a:lnTo>
                  <a:pt x="115" y="9640"/>
                </a:ln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quadBezTo>
                  <a:pt x="13633" y="0"/>
                  <a:pt x="16375" y="2905"/>
                </a:quadBezTo>
                <a:quadBezTo>
                  <a:pt x="19280" y="5647"/>
                  <a:pt x="19165" y="9640"/>
                </a:quadBez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Path"/>
          <p:cNvSpPr/>
          <p:nvPr/>
        </p:nvSpPr>
        <p:spPr>
          <a:xfrm>
            <a:off x="3066194" y="4599719"/>
            <a:ext cx="154112" cy="144587"/>
          </a:xfrm>
          <a:custGeom>
            <a:avLst/>
            <a:gdLst/>
            <a:ahLst/>
            <a:cxnLst/>
            <a:rect l="0" t="0" r="r" b="b"/>
            <a:pathLst>
              <a:path w="154112" h="144587">
                <a:moveTo>
                  <a:pt x="18767" y="5865"/>
                </a:moveTo>
                <a:lnTo>
                  <a:pt x="77056" y="114115"/>
                </a:lnTo>
                <a:lnTo>
                  <a:pt x="135344" y="5865"/>
                </a:lnTo>
                <a:quadBezTo>
                  <a:pt x="137136" y="2295"/>
                  <a:pt x="140994" y="1257"/>
                </a:quadBezTo>
                <a:quadBezTo>
                  <a:pt x="144785" y="0"/>
                  <a:pt x="148247" y="1994"/>
                </a:quadBezTo>
                <a:quadBezTo>
                  <a:pt x="151817" y="3786"/>
                  <a:pt x="152854" y="7644"/>
                </a:quadBezTo>
                <a:quadBezTo>
                  <a:pt x="154112" y="11435"/>
                  <a:pt x="152117" y="14897"/>
                </a:quadBezTo>
                <a:lnTo>
                  <a:pt x="85442" y="138722"/>
                </a:lnTo>
                <a:quadBezTo>
                  <a:pt x="84781" y="139954"/>
                  <a:pt x="83791" y="140941"/>
                </a:quadBezTo>
                <a:quadBezTo>
                  <a:pt x="82804" y="141931"/>
                  <a:pt x="81572" y="142592"/>
                </a:quadBezTo>
                <a:quadBezTo>
                  <a:pt x="78110" y="144587"/>
                  <a:pt x="74319" y="143329"/>
                </a:quadBezTo>
                <a:quadBezTo>
                  <a:pt x="70461" y="142292"/>
                  <a:pt x="68669" y="138722"/>
                </a:quadBezTo>
                <a:lnTo>
                  <a:pt x="1994" y="14897"/>
                </a:lnTo>
                <a:quadBezTo>
                  <a:pt x="0" y="11435"/>
                  <a:pt x="1257" y="7644"/>
                </a:quadBezTo>
                <a:quadBezTo>
                  <a:pt x="2295" y="3786"/>
                  <a:pt x="5865" y="1994"/>
                </a:quadBezTo>
                <a:quadBezTo>
                  <a:pt x="9326" y="0"/>
                  <a:pt x="13118" y="1257"/>
                </a:quadBezTo>
                <a:quadBezTo>
                  <a:pt x="16975" y="2295"/>
                  <a:pt x="18767" y="5865"/>
                </a:quadBez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3352800" y="4362450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拒绝</a:t>
            </a:r>
          </a:p>
        </p:txBody>
      </p:sp>
      <p:sp>
        <p:nvSpPr>
          <p:cNvPr id="34" name="Rectangle"/>
          <p:cNvSpPr/>
          <p:nvPr/>
        </p:nvSpPr>
        <p:spPr>
          <a:xfrm>
            <a:off x="1762125" y="4857750"/>
            <a:ext cx="2762250" cy="1047750"/>
          </a:xfrm>
          <a:prstGeom prst="roundRect">
            <a:avLst>
              <a:gd name="adj" fmla="val 7272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2852080" y="5010150"/>
            <a:ext cx="5823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 4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2686050" y="5353050"/>
            <a:ext cx="9144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zh-CN" sz="24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已拒绝</a:t>
            </a:r>
          </a:p>
        </p:txBody>
      </p:sp>
      <p:sp>
        <p:nvSpPr>
          <p:cNvPr id="37" name="Rectangle"/>
          <p:cNvSpPr/>
          <p:nvPr/>
        </p:nvSpPr>
        <p:spPr>
          <a:xfrm>
            <a:off x="1771650" y="4867275"/>
            <a:ext cx="2743200" cy="1028700"/>
          </a:xfrm>
          <a:prstGeom prst="roundRect">
            <a:avLst>
              <a:gd name="adj" fmla="val 6481"/>
            </a:avLst>
          </a:prstGeom>
          <a:noFill/>
          <a:ln w="19050">
            <a:solidFill>
              <a:srgbClr val="DC262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"/>
          <p:cNvSpPr/>
          <p:nvPr/>
        </p:nvSpPr>
        <p:spPr>
          <a:xfrm>
            <a:off x="1143000" y="6191250"/>
            <a:ext cx="16002000" cy="2476500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1371600" y="6419850"/>
            <a:ext cx="16002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资产状态联动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3124200" y="6457950"/>
            <a:ext cx="37719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提交报修即锁定资产，闭环结束自动释放</a:t>
            </a:r>
          </a:p>
        </p:txBody>
      </p:sp>
      <p:sp>
        <p:nvSpPr>
          <p:cNvPr id="41" name="Rectangle"/>
          <p:cNvSpPr/>
          <p:nvPr/>
        </p:nvSpPr>
        <p:spPr>
          <a:xfrm>
            <a:off x="1371600" y="6934200"/>
            <a:ext cx="1600200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485900" y="7048500"/>
            <a:ext cx="1371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提交报修成功</a:t>
            </a:r>
          </a:p>
        </p:txBody>
      </p:sp>
      <p:sp>
        <p:nvSpPr>
          <p:cNvPr id="43" name="Rectangle"/>
          <p:cNvSpPr/>
          <p:nvPr/>
        </p:nvSpPr>
        <p:spPr>
          <a:xfrm>
            <a:off x="1376363" y="6938963"/>
            <a:ext cx="1590675" cy="542925"/>
          </a:xfrm>
          <a:prstGeom prst="roundRect">
            <a:avLst>
              <a:gd name="adj" fmla="val 1315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Path"/>
          <p:cNvSpPr/>
          <p:nvPr/>
        </p:nvSpPr>
        <p:spPr>
          <a:xfrm>
            <a:off x="3114560" y="7200785"/>
            <a:ext cx="381230" cy="19280"/>
          </a:xfrm>
          <a:custGeom>
            <a:avLst/>
            <a:gdLst/>
            <a:ahLst/>
            <a:cxnLst/>
            <a:rect l="0" t="0" r="r" b="b"/>
            <a:pathLst>
              <a:path w="381230" h="19280">
                <a:moveTo>
                  <a:pt x="9640" y="115"/>
                </a:moveTo>
                <a:lnTo>
                  <a:pt x="371590" y="115"/>
                </a:lnTo>
                <a:quadBezTo>
                  <a:pt x="375583" y="0"/>
                  <a:pt x="378325" y="2905"/>
                </a:quadBezTo>
                <a:quadBezTo>
                  <a:pt x="381230" y="5647"/>
                  <a:pt x="381115" y="9640"/>
                </a:quadBezTo>
                <a:quadBezTo>
                  <a:pt x="381230" y="13633"/>
                  <a:pt x="378325" y="16375"/>
                </a:quadBezTo>
                <a:quadBezTo>
                  <a:pt x="375583" y="19280"/>
                  <a:pt x="3715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Path"/>
          <p:cNvSpPr/>
          <p:nvPr/>
        </p:nvSpPr>
        <p:spPr>
          <a:xfrm>
            <a:off x="3437642" y="7133342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3771900" y="69342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3886200" y="704850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资产置为「维修中」</a:t>
            </a:r>
          </a:p>
        </p:txBody>
      </p:sp>
      <p:sp>
        <p:nvSpPr>
          <p:cNvPr id="48" name="Rectangle"/>
          <p:cNvSpPr/>
          <p:nvPr/>
        </p:nvSpPr>
        <p:spPr>
          <a:xfrm>
            <a:off x="1371600" y="7639050"/>
            <a:ext cx="2905125" cy="55245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"/>
          <p:cNvSpPr txBox="1"/>
          <p:nvPr/>
        </p:nvSpPr>
        <p:spPr>
          <a:xfrm>
            <a:off x="1485900" y="7753350"/>
            <a:ext cx="267004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/ 拒绝 / </a:t>
            </a:r>
          </a:p>
        </p:txBody>
      </p:sp>
      <p:sp>
        <p:nvSpPr>
          <p:cNvPr id="50" name="Rectangle"/>
          <p:cNvSpPr/>
          <p:nvPr/>
        </p:nvSpPr>
        <p:spPr>
          <a:xfrm>
            <a:off x="1376363" y="7643813"/>
            <a:ext cx="2895600" cy="542925"/>
          </a:xfrm>
          <a:prstGeom prst="roundRect">
            <a:avLst>
              <a:gd name="adj" fmla="val 1315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4419485" y="7905635"/>
            <a:ext cx="381230" cy="19280"/>
          </a:xfrm>
          <a:custGeom>
            <a:avLst/>
            <a:gdLst/>
            <a:ahLst/>
            <a:cxnLst/>
            <a:rect l="0" t="0" r="r" b="b"/>
            <a:pathLst>
              <a:path w="381230" h="19280">
                <a:moveTo>
                  <a:pt x="9640" y="115"/>
                </a:moveTo>
                <a:lnTo>
                  <a:pt x="371590" y="115"/>
                </a:lnTo>
                <a:quadBezTo>
                  <a:pt x="375583" y="0"/>
                  <a:pt x="378325" y="2905"/>
                </a:quadBezTo>
                <a:quadBezTo>
                  <a:pt x="381230" y="5647"/>
                  <a:pt x="381115" y="9640"/>
                </a:quadBezTo>
                <a:quadBezTo>
                  <a:pt x="381230" y="13633"/>
                  <a:pt x="378325" y="16375"/>
                </a:quadBezTo>
                <a:quadBezTo>
                  <a:pt x="375583" y="19280"/>
                  <a:pt x="371590" y="19165"/>
                </a:quadBezTo>
                <a:lnTo>
                  <a:pt x="9640" y="19165"/>
                </a:lnTo>
                <a:quadBezTo>
                  <a:pt x="5647" y="19280"/>
                  <a:pt x="2905" y="16375"/>
                </a:quadBezTo>
                <a:quadBezTo>
                  <a:pt x="0" y="13633"/>
                  <a:pt x="115" y="9640"/>
                </a:quadBezTo>
                <a:quadBezTo>
                  <a:pt x="0" y="5647"/>
                  <a:pt x="2905" y="2905"/>
                </a:quadBezTo>
                <a:quadBezTo>
                  <a:pt x="5647" y="0"/>
                  <a:pt x="9640" y="115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Path"/>
          <p:cNvSpPr/>
          <p:nvPr/>
        </p:nvSpPr>
        <p:spPr>
          <a:xfrm>
            <a:off x="4742567" y="7838192"/>
            <a:ext cx="154166" cy="154166"/>
          </a:xfrm>
          <a:custGeom>
            <a:avLst/>
            <a:gdLst/>
            <a:ahLst/>
            <a:cxnLst/>
            <a:rect l="0" t="0" r="r" b="b"/>
            <a:pathLst>
              <a:path w="154166" h="154166">
                <a:moveTo>
                  <a:pt x="14668" y="1889"/>
                </a:moveTo>
                <a:lnTo>
                  <a:pt x="148018" y="68564"/>
                </a:lnTo>
                <a:quadBezTo>
                  <a:pt x="151640" y="70246"/>
                  <a:pt x="152794" y="74071"/>
                </a:quadBezTo>
                <a:quadBezTo>
                  <a:pt x="154166" y="77823"/>
                  <a:pt x="152277" y="81343"/>
                </a:quadBezTo>
                <a:quadBezTo>
                  <a:pt x="151589" y="82727"/>
                  <a:pt x="150493" y="83818"/>
                </a:quadBezTo>
                <a:quadBezTo>
                  <a:pt x="149402" y="84914"/>
                  <a:pt x="148018" y="85602"/>
                </a:quadBezTo>
                <a:lnTo>
                  <a:pt x="14668" y="152277"/>
                </a:lnTo>
                <a:quadBezTo>
                  <a:pt x="11148" y="154166"/>
                  <a:pt x="7396" y="152794"/>
                </a:quadBezTo>
                <a:quadBezTo>
                  <a:pt x="3571" y="151640"/>
                  <a:pt x="1889" y="148018"/>
                </a:quadBezTo>
                <a:quadBezTo>
                  <a:pt x="0" y="144498"/>
                  <a:pt x="1372" y="140746"/>
                </a:quadBezTo>
                <a:quadBezTo>
                  <a:pt x="2525" y="136921"/>
                  <a:pt x="6148" y="135239"/>
                </a:quadBezTo>
                <a:lnTo>
                  <a:pt x="122459" y="77083"/>
                </a:lnTo>
                <a:lnTo>
                  <a:pt x="6148" y="18927"/>
                </a:lnTo>
                <a:quadBezTo>
                  <a:pt x="2525" y="17244"/>
                  <a:pt x="1372" y="13420"/>
                </a:quadBezTo>
                <a:quadBezTo>
                  <a:pt x="0" y="9668"/>
                  <a:pt x="1889" y="6148"/>
                </a:quadBezTo>
                <a:quadBezTo>
                  <a:pt x="3571" y="2525"/>
                  <a:pt x="7396" y="1372"/>
                </a:quadBezTo>
                <a:quadBezTo>
                  <a:pt x="11148" y="0"/>
                  <a:pt x="14668" y="1889"/>
                </a:quad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"/>
          <p:cNvSpPr/>
          <p:nvPr/>
        </p:nvSpPr>
        <p:spPr>
          <a:xfrm>
            <a:off x="5076825" y="7639050"/>
            <a:ext cx="2057400" cy="552450"/>
          </a:xfrm>
          <a:prstGeom prst="roundRect">
            <a:avLst>
              <a:gd name="adj" fmla="val 13793"/>
            </a:avLst>
          </a:prstGeom>
          <a:solidFill>
            <a:srgbClr val="1580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5191125" y="7753350"/>
            <a:ext cx="1828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资产回到「正常」</a:t>
            </a:r>
          </a:p>
        </p:txBody>
      </p:sp>
      <p:sp>
        <p:nvSpPr>
          <p:cNvPr id="55" name="Rectangle"/>
          <p:cNvSpPr/>
          <p:nvPr/>
        </p:nvSpPr>
        <p:spPr>
          <a:xfrm>
            <a:off x="1147763" y="6196013"/>
            <a:ext cx="15992475" cy="2466975"/>
          </a:xfrm>
          <a:prstGeom prst="roundRect">
            <a:avLst>
              <a:gd name="adj" fmla="val 28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"/>
          <p:cNvSpPr txBox="1"/>
          <p:nvPr/>
        </p:nvSpPr>
        <p:spPr>
          <a:xfrm>
            <a:off x="1143000" y="9277350"/>
            <a:ext cx="61257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null 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16503776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3214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15824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主动不做两件事：预约模块、状态模式重构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07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3834708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/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971925"/>
            <a:ext cx="3200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本期范围外，列为「后续迭代」</a:t>
            </a:r>
          </a:p>
        </p:txBody>
      </p:sp>
      <p:sp>
        <p:nvSpPr>
          <p:cNvPr id="9" name="Rectangle"/>
          <p:cNvSpPr/>
          <p:nvPr/>
        </p:nvSpPr>
        <p:spPr>
          <a:xfrm>
            <a:off x="1409700" y="4495800"/>
            <a:ext cx="7277100" cy="9525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409700" y="4695825"/>
            <a:ext cx="50673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评分表五个维度，没有一个与功能数量相关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09700" y="5276850"/>
            <a:ext cx="7205433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+ 后端 + 前端 + 菜单权限 + SQL —— </a:t>
            </a:r>
          </a:p>
        </p:txBody>
      </p:sp>
      <p:sp>
        <p:nvSpPr>
          <p:cNvPr id="12" name="Rectangle"/>
          <p:cNvSpPr/>
          <p:nvPr/>
        </p:nvSpPr>
        <p:spPr>
          <a:xfrm>
            <a:off x="11477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93345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9601200" y="3314700"/>
            <a:ext cx="356235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用状态模式重构报修流转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601200" y="3971925"/>
            <a:ext cx="27432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主动判断：投入产出不划算</a:t>
            </a:r>
          </a:p>
        </p:txBody>
      </p:sp>
      <p:sp>
        <p:nvSpPr>
          <p:cNvPr id="16" name="Rectangle"/>
          <p:cNvSpPr/>
          <p:nvPr/>
        </p:nvSpPr>
        <p:spPr>
          <a:xfrm>
            <a:off x="9601200" y="4495800"/>
            <a:ext cx="7277100" cy="9525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601200" y="4695825"/>
            <a:ext cx="601195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validateStatusChange 只有 3 个分支的 if-else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601200" y="5276850"/>
            <a:ext cx="72009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引入状态模式属过度设计；讲「评估过、判断不划算」比堆模式更能得分</a:t>
            </a:r>
          </a:p>
        </p:txBody>
      </p:sp>
      <p:sp>
        <p:nvSpPr>
          <p:cNvPr id="19" name="Rectangle"/>
          <p:cNvSpPr/>
          <p:nvPr/>
        </p:nvSpPr>
        <p:spPr>
          <a:xfrm>
            <a:off x="93392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7239000"/>
            <a:ext cx="16002000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47800" y="7467600"/>
            <a:ext cx="1886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5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447800" y="7867650"/>
            <a:ext cx="1129047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· 小程序端 · 原生移动 App · 多校区 / 多租户隔离 · Selenium </a:t>
            </a:r>
          </a:p>
        </p:txBody>
      </p:sp>
      <p:sp>
        <p:nvSpPr>
          <p:cNvPr id="23" name="Rectangle"/>
          <p:cNvSpPr/>
          <p:nvPr/>
        </p:nvSpPr>
        <p:spPr>
          <a:xfrm>
            <a:off x="1147763" y="7243763"/>
            <a:ext cx="15992475" cy="1247775"/>
          </a:xfrm>
          <a:prstGeom prst="roundRect">
            <a:avLst>
              <a:gd name="adj" fmla="val 572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143000" y="9277350"/>
            <a:ext cx="58674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取舍的判断标准只有一个：能不能在任务书的评分维度上换到分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84088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协作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987430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AI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1340140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只给了一句提示词，AI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27660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15039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10000"/>
            <a:ext cx="4532928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403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467225"/>
            <a:ext cx="723397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09700" y="5438775"/>
            <a:ext cx="7177716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 · 后端 LabRoleUtils 与前端常量对齐，SQL 末尾兜底补齐授权，登记为偏移 D-10</a:t>
            </a:r>
          </a:p>
        </p:txBody>
      </p:sp>
      <p:sp>
        <p:nvSpPr>
          <p:cNvPr id="11" name="Rectangle"/>
          <p:cNvSpPr/>
          <p:nvPr/>
        </p:nvSpPr>
        <p:spPr>
          <a:xfrm>
            <a:off x="1147763" y="3052763"/>
            <a:ext cx="7800975" cy="3267075"/>
          </a:xfrm>
          <a:prstGeom prst="roundRect">
            <a:avLst>
              <a:gd name="adj" fmla="val 218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9334500" y="3048000"/>
            <a:ext cx="7810500" cy="327660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9601200" y="3314700"/>
            <a:ext cx="155129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 AI 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601200" y="3810000"/>
            <a:ext cx="4861636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AI 写 11，实际 16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9601201" y="4467225"/>
            <a:ext cx="7265974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5 个状态、有序对 25 组；AI 凭印象推定非法 11 组，正确推导是 25 − 5 组同状态幂等 − 4 组合法 = 16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601199" y="5438775"/>
            <a:ext cx="7130147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 · 断言改为 16，测试立刻全绿 —— 若当初写成 assert checked &gt; 0</a:t>
            </a:r>
          </a:p>
        </p:txBody>
      </p:sp>
      <p:sp>
        <p:nvSpPr>
          <p:cNvPr id="17" name="Rectangle"/>
          <p:cNvSpPr/>
          <p:nvPr/>
        </p:nvSpPr>
        <p:spPr>
          <a:xfrm>
            <a:off x="9339263" y="3052763"/>
            <a:ext cx="7800975" cy="3267075"/>
          </a:xfrm>
          <a:prstGeom prst="roundRect">
            <a:avLst>
              <a:gd name="adj" fmla="val 218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143000" y="7143750"/>
            <a:ext cx="569535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5 个位置说同一句话 —— </a:t>
            </a:r>
          </a:p>
        </p:txBody>
      </p:sp>
      <p:sp>
        <p:nvSpPr>
          <p:cNvPr id="19" name="Rectangle"/>
          <p:cNvSpPr/>
          <p:nvPr/>
        </p:nvSpPr>
        <p:spPr>
          <a:xfrm>
            <a:off x="11430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9320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① </a:t>
            </a:r>
          </a:p>
        </p:txBody>
      </p:sp>
      <p:sp>
        <p:nvSpPr>
          <p:cNvPr id="21" name="Rectangle"/>
          <p:cNvSpPr/>
          <p:nvPr/>
        </p:nvSpPr>
        <p:spPr>
          <a:xfrm>
            <a:off x="11477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43434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51324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② </a:t>
            </a:r>
          </a:p>
        </p:txBody>
      </p:sp>
      <p:sp>
        <p:nvSpPr>
          <p:cNvPr id="24" name="Rectangle"/>
          <p:cNvSpPr/>
          <p:nvPr/>
        </p:nvSpPr>
        <p:spPr>
          <a:xfrm>
            <a:off x="43481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75438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8332813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③ </a:t>
            </a:r>
          </a:p>
        </p:txBody>
      </p:sp>
      <p:sp>
        <p:nvSpPr>
          <p:cNvPr id="27" name="Rectangle"/>
          <p:cNvSpPr/>
          <p:nvPr/>
        </p:nvSpPr>
        <p:spPr>
          <a:xfrm>
            <a:off x="75485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"/>
          <p:cNvSpPr/>
          <p:nvPr/>
        </p:nvSpPr>
        <p:spPr>
          <a:xfrm>
            <a:off x="107442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"/>
          <p:cNvSpPr txBox="1"/>
          <p:nvPr/>
        </p:nvSpPr>
        <p:spPr>
          <a:xfrm>
            <a:off x="11533212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④ </a:t>
            </a:r>
          </a:p>
        </p:txBody>
      </p:sp>
      <p:sp>
        <p:nvSpPr>
          <p:cNvPr id="30" name="Rectangle"/>
          <p:cNvSpPr/>
          <p:nvPr/>
        </p:nvSpPr>
        <p:spPr>
          <a:xfrm>
            <a:off x="107489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3944600" y="7524750"/>
            <a:ext cx="29718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4733612" y="7810500"/>
            <a:ext cx="13937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⑤ </a:t>
            </a:r>
          </a:p>
        </p:txBody>
      </p:sp>
      <p:sp>
        <p:nvSpPr>
          <p:cNvPr id="33" name="Rectangle"/>
          <p:cNvSpPr/>
          <p:nvPr/>
        </p:nvSpPr>
        <p:spPr>
          <a:xfrm>
            <a:off x="13949363" y="7529513"/>
            <a:ext cx="2962275" cy="942975"/>
          </a:xfrm>
          <a:prstGeom prst="roundRect">
            <a:avLst>
              <a:gd name="adj" fmla="val 757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1143000" y="9277350"/>
            <a:ext cx="96814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AI 的自检结论同样需要被怀疑 —— 那次「前端构建 12ms 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把业务规则写成可断言的测试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65654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49 个用例全部通过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2857500" y="3048000"/>
            <a:ext cx="3810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3567608" y="3305175"/>
            <a:ext cx="238978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993766" y="3714750"/>
            <a:ext cx="1537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73 条接口 0 </a:t>
            </a:r>
          </a:p>
        </p:txBody>
      </p:sp>
      <p:sp>
        <p:nvSpPr>
          <p:cNvPr id="9" name="Rectangle"/>
          <p:cNvSpPr/>
          <p:nvPr/>
        </p:nvSpPr>
        <p:spPr>
          <a:xfrm>
            <a:off x="2862263" y="3052763"/>
            <a:ext cx="3800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2000250" y="4381500"/>
            <a:ext cx="5524500" cy="121920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4004234" y="4638675"/>
            <a:ext cx="151653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16 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3614690" y="5048250"/>
            <a:ext cx="2295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H2 内存库 · </a:t>
            </a:r>
          </a:p>
        </p:txBody>
      </p:sp>
      <p:sp>
        <p:nvSpPr>
          <p:cNvPr id="13" name="Rectangle"/>
          <p:cNvSpPr/>
          <p:nvPr/>
        </p:nvSpPr>
        <p:spPr>
          <a:xfrm>
            <a:off x="2005013" y="4386263"/>
            <a:ext cx="55149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143000" y="5715000"/>
            <a:ext cx="7239000" cy="1219200"/>
          </a:xfrm>
          <a:prstGeom prst="roundRect">
            <a:avLst>
              <a:gd name="adj" fmla="val 625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4004234" y="5972175"/>
            <a:ext cx="151653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 33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3464128" y="6381750"/>
            <a:ext cx="25967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Mockito 隔离 · </a:t>
            </a:r>
          </a:p>
        </p:txBody>
      </p:sp>
      <p:sp>
        <p:nvSpPr>
          <p:cNvPr id="17" name="Rectangle"/>
          <p:cNvSpPr/>
          <p:nvPr/>
        </p:nvSpPr>
        <p:spPr>
          <a:xfrm>
            <a:off x="8763000" y="30480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8991601" y="3238500"/>
            <a:ext cx="26093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8991600" y="3638550"/>
            <a:ext cx="492381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UI </a:t>
            </a:r>
          </a:p>
        </p:txBody>
      </p:sp>
      <p:sp>
        <p:nvSpPr>
          <p:cNvPr id="20" name="Rectangle"/>
          <p:cNvSpPr/>
          <p:nvPr/>
        </p:nvSpPr>
        <p:spPr>
          <a:xfrm>
            <a:off x="8767763" y="30527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8763000" y="43815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8991600" y="4572000"/>
            <a:ext cx="23184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为什么集成要 16 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8991601" y="4972050"/>
            <a:ext cx="646187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SQL 与表结构是否对得上 —— </a:t>
            </a:r>
          </a:p>
        </p:txBody>
      </p:sp>
      <p:sp>
        <p:nvSpPr>
          <p:cNvPr id="24" name="Rectangle"/>
          <p:cNvSpPr/>
          <p:nvPr/>
        </p:nvSpPr>
        <p:spPr>
          <a:xfrm>
            <a:off x="8767763" y="43862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8763000" y="5715000"/>
            <a:ext cx="8382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8991601" y="5905500"/>
            <a:ext cx="19806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8991601" y="6305550"/>
            <a:ext cx="609276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Service </a:t>
            </a:r>
          </a:p>
        </p:txBody>
      </p:sp>
      <p:sp>
        <p:nvSpPr>
          <p:cNvPr id="28" name="Rectangle"/>
          <p:cNvSpPr/>
          <p:nvPr/>
        </p:nvSpPr>
        <p:spPr>
          <a:xfrm>
            <a:off x="8767763" y="5719763"/>
            <a:ext cx="8372475" cy="1209675"/>
          </a:xfrm>
          <a:prstGeom prst="roundRect">
            <a:avLst>
              <a:gd name="adj" fmla="val 590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143000" y="7334250"/>
            <a:ext cx="16002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447800" y="76009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如实说明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447800" y="8020050"/>
            <a:ext cx="1151023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—— 本机离线仓库缺 JaCoCo </a:t>
            </a:r>
          </a:p>
        </p:txBody>
      </p:sp>
      <p:sp>
        <p:nvSpPr>
          <p:cNvPr id="32" name="Rectangle"/>
          <p:cNvSpPr/>
          <p:nvPr/>
        </p:nvSpPr>
        <p:spPr>
          <a:xfrm>
            <a:off x="1147763" y="7339013"/>
            <a:ext cx="15992475" cy="1514475"/>
          </a:xfrm>
          <a:prstGeom prst="roundRect">
            <a:avLst>
              <a:gd name="adj" fmla="val 4716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143000" y="9277350"/>
            <a:ext cx="7591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177 条断言 + 27 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844889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CI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1063142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CI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66161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GitHub Actions 的 job 一一对应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6992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[1/6]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844497" y="3762375"/>
            <a:ext cx="107350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3.5s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38481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44043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[2/6] 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4414723" y="3762375"/>
            <a:ext cx="134325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111.6s</a:t>
            </a:r>
          </a:p>
        </p:txBody>
      </p:sp>
      <p:sp>
        <p:nvSpPr>
          <p:cNvPr id="13" name="Rectangle"/>
          <p:cNvSpPr/>
          <p:nvPr/>
        </p:nvSpPr>
        <p:spPr>
          <a:xfrm>
            <a:off x="38528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65532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71094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[3/6]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7187260" y="3762375"/>
            <a:ext cx="120838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49.5s</a:t>
            </a:r>
          </a:p>
        </p:txBody>
      </p:sp>
      <p:sp>
        <p:nvSpPr>
          <p:cNvPr id="17" name="Rectangle"/>
          <p:cNvSpPr/>
          <p:nvPr/>
        </p:nvSpPr>
        <p:spPr>
          <a:xfrm>
            <a:off x="65579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2583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98145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[4/6] 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9996944" y="3762375"/>
            <a:ext cx="999211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PASS 49s</a:t>
            </a:r>
          </a:p>
        </p:txBody>
      </p:sp>
      <p:sp>
        <p:nvSpPr>
          <p:cNvPr id="21" name="Rectangle"/>
          <p:cNvSpPr/>
          <p:nvPr/>
        </p:nvSpPr>
        <p:spPr>
          <a:xfrm>
            <a:off x="92630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19634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25196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[5/6] 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2683414" y="3762375"/>
            <a:ext cx="103647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4748B"/>
                </a:solidFill>
                <a:latin typeface="Noto Sans SC Bold"/>
                <a:ea typeface="Noto Sans SC Bold"/>
                <a:cs typeface="Noto Sans SC Bold"/>
              </a:rPr>
              <a:t>SKIP 0.1s</a:t>
            </a:r>
          </a:p>
        </p:txBody>
      </p:sp>
      <p:sp>
        <p:nvSpPr>
          <p:cNvPr id="25" name="Rectangle"/>
          <p:cNvSpPr/>
          <p:nvPr/>
        </p:nvSpPr>
        <p:spPr>
          <a:xfrm>
            <a:off x="119681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668500" y="3048000"/>
            <a:ext cx="2476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5224770" y="3343275"/>
            <a:ext cx="13639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[6/6] 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5388514" y="3762375"/>
            <a:ext cx="103647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4748B"/>
                </a:solidFill>
                <a:latin typeface="Noto Sans SC Bold"/>
                <a:ea typeface="Noto Sans SC Bold"/>
                <a:cs typeface="Noto Sans SC Bold"/>
              </a:rPr>
              <a:t>SKIP 2.5s</a:t>
            </a:r>
          </a:p>
        </p:txBody>
      </p:sp>
      <p:sp>
        <p:nvSpPr>
          <p:cNvPr id="29" name="Rectangle"/>
          <p:cNvSpPr/>
          <p:nvPr/>
        </p:nvSpPr>
        <p:spPr>
          <a:xfrm>
            <a:off x="14673263" y="3052763"/>
            <a:ext cx="2466975" cy="1323975"/>
          </a:xfrm>
          <a:prstGeom prst="roundRect">
            <a:avLst>
              <a:gd name="adj" fmla="val 539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409700" y="4991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本地开发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409700" y="5410200"/>
            <a:ext cx="304678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MySQL 与 Redis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409700" y="5915025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改端口或库名即可，不动代码</a:t>
            </a:r>
          </a:p>
        </p:txBody>
      </p:sp>
      <p:sp>
        <p:nvSpPr>
          <p:cNvPr id="34" name="Rectangle"/>
          <p:cNvSpPr/>
          <p:nvPr/>
        </p:nvSpPr>
        <p:spPr>
          <a:xfrm>
            <a:off x="11477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65913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6858000" y="4991100"/>
            <a:ext cx="879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CI 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6858000" y="5410200"/>
            <a:ext cx="339535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H2 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6858000" y="5915025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与本地跑同一份测试命令</a:t>
            </a:r>
          </a:p>
        </p:txBody>
      </p:sp>
      <p:sp>
        <p:nvSpPr>
          <p:cNvPr id="39" name="Rectangle"/>
          <p:cNvSpPr/>
          <p:nvPr/>
        </p:nvSpPr>
        <p:spPr>
          <a:xfrm>
            <a:off x="65960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"/>
          <p:cNvSpPr/>
          <p:nvPr/>
        </p:nvSpPr>
        <p:spPr>
          <a:xfrm>
            <a:off x="12039600" y="47625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2306300" y="49911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容器编排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2306300" y="5410200"/>
            <a:ext cx="37338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四个服务同起，配置走环境变量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2306300" y="5915025"/>
            <a:ext cx="24745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application.yml </a:t>
            </a:r>
          </a:p>
        </p:txBody>
      </p:sp>
      <p:sp>
        <p:nvSpPr>
          <p:cNvPr id="44" name="Rectangle"/>
          <p:cNvSpPr/>
          <p:nvPr/>
        </p:nvSpPr>
        <p:spPr>
          <a:xfrm>
            <a:off x="12044363" y="47672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143000" y="6762750"/>
            <a:ext cx="1600200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1447800" y="7029450"/>
            <a:ext cx="19806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447800" y="7448550"/>
            <a:ext cx="1002498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Docker，第 5、6 段恒为 SKIPPED —— 脚本保证 SKIPPED 不伪装成 PASS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447800" y="7953375"/>
            <a:ext cx="62175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94 条配置静态断言 + 23 </a:t>
            </a:r>
          </a:p>
        </p:txBody>
      </p:sp>
      <p:sp>
        <p:nvSpPr>
          <p:cNvPr id="49" name="Rectangle"/>
          <p:cNvSpPr/>
          <p:nvPr/>
        </p:nvSpPr>
        <p:spPr>
          <a:xfrm>
            <a:off x="1147763" y="6767513"/>
            <a:ext cx="15992475" cy="1666875"/>
          </a:xfrm>
          <a:prstGeom prst="roundRect">
            <a:avLst>
              <a:gd name="adj" fmla="val 4285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143000" y="9277350"/>
            <a:ext cx="878266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1668e4a 实测 PASS 4 / SKIPPED 2 / FAIL 0，总耗时 216.2 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三步走完一次报修闭环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07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28750" y="3333750"/>
            <a:ext cx="21902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28750" y="3771900"/>
            <a:ext cx="2315223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① 登录 → </a:t>
            </a:r>
          </a:p>
        </p:txBody>
      </p:sp>
      <p:pic>
        <p:nvPicPr>
          <p:cNvPr id="9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4295775"/>
            <a:ext cx="4533900" cy="2609850"/>
          </a:xfrm>
          <a:prstGeom prst="rect">
            <a:avLst/>
          </a:prstGeom>
        </p:spPr>
      </p:pic>
      <p:sp>
        <p:nvSpPr>
          <p:cNvPr id="10" name="Rectangle"/>
          <p:cNvSpPr/>
          <p:nvPr/>
        </p:nvSpPr>
        <p:spPr>
          <a:xfrm>
            <a:off x="14335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428750" y="7038975"/>
            <a:ext cx="34709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4 个指标卡 + 4 张图；维修中资产 2 </a:t>
            </a:r>
          </a:p>
        </p:txBody>
      </p:sp>
      <p:sp>
        <p:nvSpPr>
          <p:cNvPr id="12" name="Rectangle"/>
          <p:cNvSpPr/>
          <p:nvPr/>
        </p:nvSpPr>
        <p:spPr>
          <a:xfrm>
            <a:off x="11477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65913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6877050" y="3333750"/>
            <a:ext cx="2399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6877050" y="3771900"/>
            <a:ext cx="2315223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② 资产台账 → </a:t>
            </a:r>
          </a:p>
        </p:txBody>
      </p:sp>
      <p:pic>
        <p:nvPicPr>
          <p:cNvPr id="16" name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0" y="4295775"/>
            <a:ext cx="4533900" cy="2609850"/>
          </a:xfrm>
          <a:prstGeom prst="rect">
            <a:avLst/>
          </a:prstGeom>
        </p:spPr>
      </p:pic>
      <p:sp>
        <p:nvSpPr>
          <p:cNvPr id="17" name="Rectangle"/>
          <p:cNvSpPr/>
          <p:nvPr/>
        </p:nvSpPr>
        <p:spPr>
          <a:xfrm>
            <a:off x="68818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6877050" y="7038975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提交报修后，资产自动置「维修中」</a:t>
            </a:r>
          </a:p>
        </p:txBody>
      </p:sp>
      <p:sp>
        <p:nvSpPr>
          <p:cNvPr id="19" name="Rectangle"/>
          <p:cNvSpPr/>
          <p:nvPr/>
        </p:nvSpPr>
        <p:spPr>
          <a:xfrm>
            <a:off x="65960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2039600" y="3048000"/>
            <a:ext cx="5105400" cy="447675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2325350" y="3333750"/>
            <a:ext cx="17711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2325350" y="3771900"/>
            <a:ext cx="270300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③ 审核 → 完成 → </a:t>
            </a:r>
          </a:p>
        </p:txBody>
      </p:sp>
      <p:pic>
        <p:nvPicPr>
          <p:cNvPr id="23" name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50" y="4295775"/>
            <a:ext cx="4533900" cy="2609850"/>
          </a:xfrm>
          <a:prstGeom prst="rect">
            <a:avLst/>
          </a:prstGeom>
        </p:spPr>
      </p:pic>
      <p:sp>
        <p:nvSpPr>
          <p:cNvPr id="24" name="Rectangle"/>
          <p:cNvSpPr/>
          <p:nvPr/>
        </p:nvSpPr>
        <p:spPr>
          <a:xfrm>
            <a:off x="12330113" y="4300538"/>
            <a:ext cx="4524375" cy="2600325"/>
          </a:xfrm>
          <a:prstGeom prst="roundRect">
            <a:avLst>
              <a:gd name="adj" fmla="val 201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2325350" y="7038975"/>
            <a:ext cx="42840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0→1→2→3</a:t>
            </a:r>
          </a:p>
        </p:txBody>
      </p:sp>
      <p:sp>
        <p:nvSpPr>
          <p:cNvPr id="26" name="Rectangle"/>
          <p:cNvSpPr/>
          <p:nvPr/>
        </p:nvSpPr>
        <p:spPr>
          <a:xfrm>
            <a:off x="12044363" y="3052763"/>
            <a:ext cx="5095875" cy="4467225"/>
          </a:xfrm>
          <a:prstGeom prst="roundRect">
            <a:avLst>
              <a:gd name="adj" fmla="val 159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143000" y="7905750"/>
            <a:ext cx="16002000" cy="91440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447800" y="8172450"/>
            <a:ext cx="1221245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labadmin ／ 口令 admin123 —— 与 README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7910513"/>
            <a:ext cx="15992475" cy="904875"/>
          </a:xfrm>
          <a:prstGeom prst="roundRect">
            <a:avLst>
              <a:gd name="adj" fmla="val 7894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43000" y="9277350"/>
            <a:ext cx="72223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T6-01 重拍完成后替换 —— 现场演示的画面必须与 PPT 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0547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同一条权限，只能有一处口径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1040476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漏掉任意一处，就会出现「按钮看得到、接口却 403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22746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① 后端 · LabRoleUtils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810000"/>
            <a:ext cx="32385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两套白名单的唯一真源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467225"/>
            <a:ext cx="4492562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canHandleRepair 与 canViewAll</a:t>
            </a:r>
            <a:br>
              <a:rPr lang="en-US" sz="2100">
                <a:latin typeface="Noto Sans SC"/>
                <a:ea typeface="Noto Sans SC"/>
                <a:cs typeface="Noto Sans SC"/>
              </a:rPr>
            </a:br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Service 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5913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858000" y="3314700"/>
            <a:ext cx="26663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② 前端 · labPermission.js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858000" y="3810000"/>
            <a:ext cx="323850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同名常量照抄后端口径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858000" y="4467225"/>
            <a:ext cx="4533900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两个常量与后端同名同义，文件注释里写明「必须与后端保持一致」，改一处要同步改另一处</a:t>
            </a:r>
          </a:p>
        </p:txBody>
      </p:sp>
      <p:sp>
        <p:nvSpPr>
          <p:cNvPr id="15" name="Rectangle"/>
          <p:cNvSpPr/>
          <p:nvPr/>
        </p:nvSpPr>
        <p:spPr>
          <a:xfrm>
            <a:off x="65960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039600" y="3048000"/>
            <a:ext cx="5105400" cy="28575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306300" y="3314700"/>
            <a:ext cx="24708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③ SQL · permission_fix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306300" y="3810000"/>
            <a:ext cx="3562350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5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末尾按角色清单兜底授权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306300" y="4467225"/>
            <a:ext cx="4533900" cy="11715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偏移 D-10 </a:t>
            </a:r>
          </a:p>
        </p:txBody>
      </p:sp>
      <p:sp>
        <p:nvSpPr>
          <p:cNvPr id="20" name="Rectangle"/>
          <p:cNvSpPr/>
          <p:nvPr/>
        </p:nvSpPr>
        <p:spPr>
          <a:xfrm>
            <a:off x="12044363" y="3052763"/>
            <a:ext cx="5095875" cy="2847975"/>
          </a:xfrm>
          <a:prstGeom prst="roundRect">
            <a:avLst>
              <a:gd name="adj" fmla="val 2508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6286500"/>
            <a:ext cx="16002000" cy="241935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47800" y="6705600"/>
            <a:ext cx="1771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· 4 / 8</a:t>
            </a:r>
          </a:p>
        </p:txBody>
      </p:sp>
      <p:sp>
        <p:nvSpPr>
          <p:cNvPr id="23" name="Rectangle"/>
          <p:cNvSpPr/>
          <p:nvPr/>
        </p:nvSpPr>
        <p:spPr>
          <a:xfrm>
            <a:off x="4457700" y="6591300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4648200" y="6686550"/>
            <a:ext cx="708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admin</a:t>
            </a:r>
          </a:p>
        </p:txBody>
      </p:sp>
      <p:sp>
        <p:nvSpPr>
          <p:cNvPr id="25" name="Rectangle"/>
          <p:cNvSpPr/>
          <p:nvPr/>
        </p:nvSpPr>
        <p:spPr>
          <a:xfrm>
            <a:off x="5705475" y="6591300"/>
            <a:ext cx="122872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5895975" y="6686550"/>
            <a:ext cx="83896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teacher</a:t>
            </a:r>
          </a:p>
        </p:txBody>
      </p:sp>
      <p:sp>
        <p:nvSpPr>
          <p:cNvPr id="27" name="Rectangle"/>
          <p:cNvSpPr/>
          <p:nvPr/>
        </p:nvSpPr>
        <p:spPr>
          <a:xfrm>
            <a:off x="7086600" y="6591300"/>
            <a:ext cx="1847850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7277100" y="6686550"/>
            <a:ext cx="14637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lab_manager</a:t>
            </a:r>
          </a:p>
        </p:txBody>
      </p:sp>
      <p:sp>
        <p:nvSpPr>
          <p:cNvPr id="29" name="Rectangle"/>
          <p:cNvSpPr/>
          <p:nvPr/>
        </p:nvSpPr>
        <p:spPr>
          <a:xfrm>
            <a:off x="9086850" y="6591300"/>
            <a:ext cx="21621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9277350" y="6686550"/>
            <a:ext cx="177256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repair_engineer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447800" y="7458075"/>
            <a:ext cx="1771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· 6 / 8</a:t>
            </a:r>
          </a:p>
        </p:txBody>
      </p:sp>
      <p:sp>
        <p:nvSpPr>
          <p:cNvPr id="32" name="Rectangle"/>
          <p:cNvSpPr/>
          <p:nvPr/>
        </p:nvSpPr>
        <p:spPr>
          <a:xfrm>
            <a:off x="4457700" y="7343775"/>
            <a:ext cx="10953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4648200" y="7439025"/>
            <a:ext cx="7088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admin</a:t>
            </a:r>
          </a:p>
        </p:txBody>
      </p:sp>
      <p:sp>
        <p:nvSpPr>
          <p:cNvPr id="34" name="Rectangle"/>
          <p:cNvSpPr/>
          <p:nvPr/>
        </p:nvSpPr>
        <p:spPr>
          <a:xfrm>
            <a:off x="5705475" y="7343775"/>
            <a:ext cx="122872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5895975" y="7439025"/>
            <a:ext cx="83896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teacher</a:t>
            </a:r>
          </a:p>
        </p:txBody>
      </p:sp>
      <p:sp>
        <p:nvSpPr>
          <p:cNvPr id="36" name="Rectangle"/>
          <p:cNvSpPr/>
          <p:nvPr/>
        </p:nvSpPr>
        <p:spPr>
          <a:xfrm>
            <a:off x="7086600" y="7343775"/>
            <a:ext cx="1847850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7277100" y="7439025"/>
            <a:ext cx="14637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lab_manager</a:t>
            </a:r>
          </a:p>
        </p:txBody>
      </p:sp>
      <p:sp>
        <p:nvSpPr>
          <p:cNvPr id="38" name="Rectangle"/>
          <p:cNvSpPr/>
          <p:nvPr/>
        </p:nvSpPr>
        <p:spPr>
          <a:xfrm>
            <a:off x="9086850" y="7343775"/>
            <a:ext cx="2162175" cy="523875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9277350" y="7439025"/>
            <a:ext cx="177256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repair_engineer</a:t>
            </a:r>
          </a:p>
        </p:txBody>
      </p:sp>
      <p:sp>
        <p:nvSpPr>
          <p:cNvPr id="40" name="Rectangle"/>
          <p:cNvSpPr/>
          <p:nvPr/>
        </p:nvSpPr>
        <p:spPr>
          <a:xfrm>
            <a:off x="11401425" y="7343775"/>
            <a:ext cx="1857375" cy="523875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"/>
          <p:cNvSpPr txBox="1"/>
          <p:nvPr/>
        </p:nvSpPr>
        <p:spPr>
          <a:xfrm>
            <a:off x="11591925" y="7439025"/>
            <a:ext cx="14685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asset_keeper</a:t>
            </a:r>
          </a:p>
        </p:txBody>
      </p:sp>
      <p:sp>
        <p:nvSpPr>
          <p:cNvPr id="42" name="Rectangle"/>
          <p:cNvSpPr/>
          <p:nvPr/>
        </p:nvSpPr>
        <p:spPr>
          <a:xfrm>
            <a:off x="13411200" y="7343775"/>
            <a:ext cx="1609725" cy="523875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"/>
          <p:cNvSpPr txBox="1"/>
          <p:nvPr/>
        </p:nvSpPr>
        <p:spPr>
          <a:xfrm>
            <a:off x="13601700" y="7439025"/>
            <a:ext cx="122163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15803D"/>
                </a:solidFill>
                <a:latin typeface="Noto Sans SC Bold"/>
                <a:ea typeface="Noto Sans SC Bold"/>
                <a:cs typeface="Noto Sans SC Bold"/>
              </a:rPr>
              <a:t>lab_viewer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1447800" y="8096250"/>
            <a:ext cx="118860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room_keeper / student_assistant 不在任一白名单 —— </a:t>
            </a:r>
          </a:p>
        </p:txBody>
      </p:sp>
      <p:sp>
        <p:nvSpPr>
          <p:cNvPr id="45" name="Rectangle"/>
          <p:cNvSpPr/>
          <p:nvPr/>
        </p:nvSpPr>
        <p:spPr>
          <a:xfrm>
            <a:off x="1147763" y="6291263"/>
            <a:ext cx="15992475" cy="2409825"/>
          </a:xfrm>
          <a:prstGeom prst="roundRect">
            <a:avLst>
              <a:gd name="adj" fmla="val 2964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143000" y="9277350"/>
            <a:ext cx="798888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5213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五张业务表，删除一律是逻辑删除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75006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71600" y="3276600"/>
            <a:ext cx="1005036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lab_room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3648075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实验室房间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371600" y="4048125"/>
            <a:ext cx="24140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/ 名称 / 学院 / </a:t>
            </a:r>
          </a:p>
        </p:txBody>
      </p:sp>
      <p:sp>
        <p:nvSpPr>
          <p:cNvPr id="10" name="Rectangle"/>
          <p:cNvSpPr/>
          <p:nvPr/>
        </p:nvSpPr>
        <p:spPr>
          <a:xfrm>
            <a:off x="114776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"/>
          <p:cNvSpPr/>
          <p:nvPr/>
        </p:nvSpPr>
        <p:spPr>
          <a:xfrm>
            <a:off x="676275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6991350" y="3276600"/>
            <a:ext cx="102758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lab_asset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6991350" y="3648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资产台账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6991350" y="4048125"/>
            <a:ext cx="3218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/ 名称 / 归属房间 / 状态 / </a:t>
            </a:r>
          </a:p>
        </p:txBody>
      </p:sp>
      <p:sp>
        <p:nvSpPr>
          <p:cNvPr id="15" name="Rectangle"/>
          <p:cNvSpPr/>
          <p:nvPr/>
        </p:nvSpPr>
        <p:spPr>
          <a:xfrm>
            <a:off x="676751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"/>
          <p:cNvSpPr/>
          <p:nvPr/>
        </p:nvSpPr>
        <p:spPr>
          <a:xfrm>
            <a:off x="12382500" y="3048000"/>
            <a:ext cx="47625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2611100" y="3276600"/>
            <a:ext cx="1075246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lab_repair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2611100" y="3648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报修工单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611100" y="4048125"/>
            <a:ext cx="27995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/ 资产 / 状态 / 成本 / </a:t>
            </a:r>
          </a:p>
        </p:txBody>
      </p:sp>
      <p:sp>
        <p:nvSpPr>
          <p:cNvPr id="20" name="Rectangle"/>
          <p:cNvSpPr/>
          <p:nvPr/>
        </p:nvSpPr>
        <p:spPr>
          <a:xfrm>
            <a:off x="12387263" y="3052763"/>
            <a:ext cx="47529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5905500" y="3857625"/>
            <a:ext cx="85725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1525250" y="3857625"/>
            <a:ext cx="85725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043479" y="3476625"/>
            <a:ext cx="58129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1 ： N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1663229" y="3476625"/>
            <a:ext cx="58129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1 ： N</a:t>
            </a:r>
          </a:p>
        </p:txBody>
      </p:sp>
      <p:sp>
        <p:nvSpPr>
          <p:cNvPr id="25" name="Rectangle"/>
          <p:cNvSpPr/>
          <p:nvPr/>
        </p:nvSpPr>
        <p:spPr>
          <a:xfrm>
            <a:off x="9144000" y="4667250"/>
            <a:ext cx="9525" cy="6667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4763750" y="4667250"/>
            <a:ext cx="9525" cy="666750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676275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6991350" y="5562600"/>
            <a:ext cx="185157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lab_asset_record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6991350" y="5934075"/>
            <a:ext cx="3027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</a:t>
            </a:r>
          </a:p>
        </p:txBody>
      </p:sp>
      <p:sp>
        <p:nvSpPr>
          <p:cNvPr id="30" name="Rectangle"/>
          <p:cNvSpPr/>
          <p:nvPr/>
        </p:nvSpPr>
        <p:spPr>
          <a:xfrm>
            <a:off x="676751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"/>
          <p:cNvSpPr/>
          <p:nvPr/>
        </p:nvSpPr>
        <p:spPr>
          <a:xfrm>
            <a:off x="1238250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12611100" y="5562600"/>
            <a:ext cx="1902247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lab_repair_record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2611100" y="5934075"/>
            <a:ext cx="30275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</a:t>
            </a:r>
          </a:p>
        </p:txBody>
      </p:sp>
      <p:sp>
        <p:nvSpPr>
          <p:cNvPr id="34" name="Rectangle"/>
          <p:cNvSpPr/>
          <p:nvPr/>
        </p:nvSpPr>
        <p:spPr>
          <a:xfrm>
            <a:off x="1238726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1143000" y="5334000"/>
            <a:ext cx="4762500" cy="1238250"/>
          </a:xfrm>
          <a:prstGeom prst="roundRect">
            <a:avLst>
              <a:gd name="adj" fmla="val 6153"/>
            </a:avLst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371600" y="5562600"/>
            <a:ext cx="18859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房间为什么不建履历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371600" y="59817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房间不参与闭环，只有资产与工单留痕</a:t>
            </a:r>
          </a:p>
        </p:txBody>
      </p:sp>
      <p:sp>
        <p:nvSpPr>
          <p:cNvPr id="38" name="Rectangle"/>
          <p:cNvSpPr/>
          <p:nvPr/>
        </p:nvSpPr>
        <p:spPr>
          <a:xfrm>
            <a:off x="1147763" y="5338763"/>
            <a:ext cx="4752975" cy="1228725"/>
          </a:xfrm>
          <a:prstGeom prst="roundRect">
            <a:avLst>
              <a:gd name="adj" fmla="val 5813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1143000" y="7048500"/>
            <a:ext cx="1600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447800" y="73152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删得了单据，删不掉行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447800" y="7734300"/>
            <a:ext cx="931769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del_flag = '0'；编号唯一性由 Service 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447800" y="8239125"/>
            <a:ext cx="81751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实测返回 500</a:t>
            </a:r>
          </a:p>
        </p:txBody>
      </p:sp>
      <p:sp>
        <p:nvSpPr>
          <p:cNvPr id="43" name="Rectangle"/>
          <p:cNvSpPr/>
          <p:nvPr/>
        </p:nvSpPr>
        <p:spPr>
          <a:xfrm>
            <a:off x="1147763" y="7053263"/>
            <a:ext cx="15992475" cy="1704975"/>
          </a:xfrm>
          <a:prstGeom prst="roundRect">
            <a:avLst>
              <a:gd name="adj" fmla="val 41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1143000" y="9277350"/>
            <a:ext cx="673221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4 张字典表配合 —— 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3214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67056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五条我们选择容忍的偏差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93675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143000" y="9277350"/>
            <a:ext cx="649060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AGENTS.md 第 7.3 节留有编号 ——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12 / 14</a:t>
            </a:r>
          </a:p>
        </p:txBody>
      </p:sp>
      <p:sp>
        <p:nvSpPr>
          <p:cNvPr id="9" name="Rectangle"/>
          <p:cNvSpPr/>
          <p:nvPr/>
        </p:nvSpPr>
        <p:spPr>
          <a:xfrm>
            <a:off x="1143000" y="30480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371600" y="3286125"/>
            <a:ext cx="47077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DC2626"/>
                </a:solidFill>
                <a:latin typeface="Inter Bold"/>
                <a:ea typeface="Inter Bold"/>
                <a:cs typeface="Inter Bold"/>
              </a:rPr>
              <a:t>D-01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762250" y="325755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二维码是相对路径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962650" y="325755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手机相机扫不开，只能登录后站内跳转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2401550" y="3257550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配一个站点基址即可，属小改动</a:t>
            </a:r>
          </a:p>
        </p:txBody>
      </p:sp>
      <p:sp>
        <p:nvSpPr>
          <p:cNvPr id="14" name="Rectangle"/>
          <p:cNvSpPr/>
          <p:nvPr/>
        </p:nvSpPr>
        <p:spPr>
          <a:xfrm>
            <a:off x="1147763" y="30527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1143000" y="38481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371600" y="4086225"/>
            <a:ext cx="51742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D-06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2762250" y="405765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前后端状态机是两张手写表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962650" y="405765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跨语言无法真正共享，后端有矩阵测试兜底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2401550" y="4057650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改状态机时人工比对前端</a:t>
            </a:r>
          </a:p>
        </p:txBody>
      </p:sp>
      <p:sp>
        <p:nvSpPr>
          <p:cNvPr id="20" name="Rectangle"/>
          <p:cNvSpPr/>
          <p:nvPr/>
        </p:nvSpPr>
        <p:spPr>
          <a:xfrm>
            <a:off x="1147763" y="38528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43000" y="46482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371600" y="4886325"/>
            <a:ext cx="51732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D-08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2762250" y="4857750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签名密钥有可猜的默认值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5962650" y="485775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默认值一旦上线就等于公开，能伪造登录凭证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2401550" y="4857750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用环境变量覆盖，写进部署文档</a:t>
            </a:r>
          </a:p>
        </p:txBody>
      </p:sp>
      <p:sp>
        <p:nvSpPr>
          <p:cNvPr id="26" name="Rectangle"/>
          <p:cNvSpPr/>
          <p:nvPr/>
        </p:nvSpPr>
        <p:spPr>
          <a:xfrm>
            <a:off x="1147763" y="46529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"/>
          <p:cNvSpPr/>
          <p:nvPr/>
        </p:nvSpPr>
        <p:spPr>
          <a:xfrm>
            <a:off x="1143000" y="54483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371600" y="5686425"/>
            <a:ext cx="50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D-26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2762250" y="5657850"/>
            <a:ext cx="25498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WMIC 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5962650" y="5657850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长流水线有概率被中途掐断，易误判成构建失败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2401550" y="5657850"/>
            <a:ext cx="3628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CI 在 Linux </a:t>
            </a:r>
          </a:p>
        </p:txBody>
      </p:sp>
      <p:sp>
        <p:nvSpPr>
          <p:cNvPr id="32" name="Rectangle"/>
          <p:cNvSpPr/>
          <p:nvPr/>
        </p:nvSpPr>
        <p:spPr>
          <a:xfrm>
            <a:off x="1147763" y="54530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"/>
          <p:cNvSpPr/>
          <p:nvPr/>
        </p:nvSpPr>
        <p:spPr>
          <a:xfrm>
            <a:off x="1143000" y="6248400"/>
            <a:ext cx="160020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1371600" y="6486525"/>
            <a:ext cx="50279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B45309"/>
                </a:solidFill>
                <a:latin typeface="Inter Bold"/>
                <a:ea typeface="Inter Bold"/>
                <a:cs typeface="Inter Bold"/>
              </a:rPr>
              <a:t>D-28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2762250" y="6457950"/>
            <a:ext cx="15986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 Docker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5962650" y="6457950"/>
            <a:ext cx="4044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SKIPPED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2401550" y="64579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F766E"/>
                </a:solidFill>
                <a:latin typeface="Noto Sans SC Bold"/>
                <a:ea typeface="Noto Sans SC Bold"/>
                <a:cs typeface="Noto Sans SC Bold"/>
              </a:rPr>
              <a:t>改用静态断言与环境变量绑定实证</a:t>
            </a:r>
          </a:p>
        </p:txBody>
      </p:sp>
      <p:sp>
        <p:nvSpPr>
          <p:cNvPr id="38" name="Rectangle"/>
          <p:cNvSpPr/>
          <p:nvPr/>
        </p:nvSpPr>
        <p:spPr>
          <a:xfrm>
            <a:off x="1147763" y="6253163"/>
            <a:ext cx="15992475" cy="714375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"/>
          <p:cNvSpPr/>
          <p:nvPr/>
        </p:nvSpPr>
        <p:spPr>
          <a:xfrm>
            <a:off x="1143000" y="7258050"/>
            <a:ext cx="16002000" cy="16002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Box"/>
          <p:cNvSpPr txBox="1"/>
          <p:nvPr/>
        </p:nvSpPr>
        <p:spPr>
          <a:xfrm>
            <a:off x="1447800" y="75247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处置原则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447800" y="7943850"/>
            <a:ext cx="1165932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—— 而像 D-10 </a:t>
            </a:r>
          </a:p>
        </p:txBody>
      </p:sp>
      <p:sp>
        <p:nvSpPr>
          <p:cNvPr id="42" name="Rectangle"/>
          <p:cNvSpPr/>
          <p:nvPr/>
        </p:nvSpPr>
        <p:spPr>
          <a:xfrm>
            <a:off x="1147763" y="7262813"/>
            <a:ext cx="15992475" cy="1590675"/>
          </a:xfrm>
          <a:prstGeom prst="roundRect">
            <a:avLst>
              <a:gd name="adj" fmla="val 4491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225468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这套系统到底做了多少东西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670057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71600" y="3276600"/>
            <a:ext cx="646956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28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71600" y="4019550"/>
            <a:ext cx="316496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REST 接口，分在 4 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"/>
          <p:cNvSpPr/>
          <p:nvPr/>
        </p:nvSpPr>
        <p:spPr>
          <a:xfrm>
            <a:off x="65913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6819900" y="3276600"/>
            <a:ext cx="329208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9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819900" y="4019550"/>
            <a:ext cx="335699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5 张业务 + 4 </a:t>
            </a:r>
          </a:p>
        </p:txBody>
      </p:sp>
      <p:sp>
        <p:nvSpPr>
          <p:cNvPr id="13" name="Rectangle"/>
          <p:cNvSpPr/>
          <p:nvPr/>
        </p:nvSpPr>
        <p:spPr>
          <a:xfrm>
            <a:off x="65960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12039600" y="304800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12268200" y="3276600"/>
            <a:ext cx="648519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29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2268200" y="4019550"/>
            <a:ext cx="36576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个生产类，全部收在一个自定义包内</a:t>
            </a:r>
          </a:p>
        </p:txBody>
      </p:sp>
      <p:sp>
        <p:nvSpPr>
          <p:cNvPr id="17" name="Rectangle"/>
          <p:cNvSpPr/>
          <p:nvPr/>
        </p:nvSpPr>
        <p:spPr>
          <a:xfrm>
            <a:off x="12044363" y="305276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11430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71600" y="5086350"/>
            <a:ext cx="679512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49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371600" y="5829300"/>
            <a:ext cx="338213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33 单元 + 16 </a:t>
            </a:r>
          </a:p>
        </p:txBody>
      </p:sp>
      <p:sp>
        <p:nvSpPr>
          <p:cNvPr id="21" name="Rectangle"/>
          <p:cNvSpPr/>
          <p:nvPr/>
        </p:nvSpPr>
        <p:spPr>
          <a:xfrm>
            <a:off x="11477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2563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65913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819900" y="5086350"/>
            <a:ext cx="329208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9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6819900" y="5829300"/>
            <a:ext cx="304700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SQL </a:t>
            </a:r>
          </a:p>
        </p:txBody>
      </p:sp>
      <p:sp>
        <p:nvSpPr>
          <p:cNvPr id="25" name="Rectangle"/>
          <p:cNvSpPr/>
          <p:nvPr/>
        </p:nvSpPr>
        <p:spPr>
          <a:xfrm>
            <a:off x="65960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"/>
          <p:cNvSpPr/>
          <p:nvPr/>
        </p:nvSpPr>
        <p:spPr>
          <a:xfrm>
            <a:off x="12039600" y="4857750"/>
            <a:ext cx="51054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12268200" y="5086350"/>
            <a:ext cx="350304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200">
                <a:solidFill>
                  <a:srgbClr val="2563EB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2268200" y="5829300"/>
            <a:ext cx="403341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房间 / 资产 / 报修 / </a:t>
            </a:r>
          </a:p>
        </p:txBody>
      </p:sp>
      <p:sp>
        <p:nvSpPr>
          <p:cNvPr id="29" name="Rectangle"/>
          <p:cNvSpPr/>
          <p:nvPr/>
        </p:nvSpPr>
        <p:spPr>
          <a:xfrm>
            <a:off x="12044363" y="4862513"/>
            <a:ext cx="50958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1143000" y="7048500"/>
            <a:ext cx="1600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447800" y="73152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口径说明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447800" y="7734300"/>
            <a:ext cx="910087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447800" y="8239125"/>
            <a:ext cx="738997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Inter"/>
                <a:ea typeface="Inter"/>
                <a:cs typeface="Inter"/>
              </a:rPr>
              <a:t>Tests run: 49, Failures: 0, Errors: 0, Skipped: 0（提交 1668e4a</a:t>
            </a:r>
          </a:p>
        </p:txBody>
      </p:sp>
      <p:sp>
        <p:nvSpPr>
          <p:cNvPr id="34" name="Rectangle"/>
          <p:cNvSpPr/>
          <p:nvPr/>
        </p:nvSpPr>
        <p:spPr>
          <a:xfrm>
            <a:off x="1147763" y="7053263"/>
            <a:ext cx="15992475" cy="1704975"/>
          </a:xfrm>
          <a:prstGeom prst="roundRect">
            <a:avLst>
              <a:gd name="adj" fmla="val 418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"/>
          <p:cNvSpPr txBox="1"/>
          <p:nvPr/>
        </p:nvSpPr>
        <p:spPr>
          <a:xfrm>
            <a:off x="1143000" y="9277350"/>
            <a:ext cx="73602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—— 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1047750"/>
            <a:ext cx="3168129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分工与 AI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47800"/>
            <a:ext cx="804550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AI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362200"/>
            <a:ext cx="830103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AI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409700" y="3314700"/>
            <a:ext cx="3651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 · 第 6 组 · 软件工程 2023-2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09700" y="3771900"/>
            <a:ext cx="25491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01　王旻辉 · 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09700" y="4314825"/>
            <a:ext cx="41493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02　巴力江·托力肯别克 ·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09700" y="4857750"/>
            <a:ext cx="22824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03　廖煌 · 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09700" y="5400675"/>
            <a:ext cx="4682719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172033"/>
                </a:solidFill>
                <a:latin typeface="Noto Sans SC"/>
                <a:ea typeface="Noto Sans SC"/>
                <a:cs typeface="Noto Sans SC"/>
              </a:rPr>
              <a:t>04　迪丽热巴·阿布都西克尔 · 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09700" y="5943600"/>
            <a:ext cx="67942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Q-08</a:t>
            </a:r>
          </a:p>
        </p:txBody>
      </p:sp>
      <p:sp>
        <p:nvSpPr>
          <p:cNvPr id="13" name="Rectangle"/>
          <p:cNvSpPr/>
          <p:nvPr/>
        </p:nvSpPr>
        <p:spPr>
          <a:xfrm>
            <a:off x="11477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9334500" y="3048000"/>
            <a:ext cx="78105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9601199" y="3314700"/>
            <a:ext cx="30655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2563EB"/>
                </a:solidFill>
                <a:latin typeface="Noto Sans SC Bold"/>
                <a:ea typeface="Noto Sans SC Bold"/>
                <a:cs typeface="Noto Sans SC Bold"/>
              </a:rPr>
              <a:t>AI 使用声明 ·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9601200" y="3733800"/>
            <a:ext cx="72771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前后端实现、CI/CD 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T1/T2，49 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· 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UI 设计 · T6</a:t>
            </a:r>
            <a:br>
              <a:rPr lang="en-US" sz="1650">
                <a:latin typeface="Noto Sans SC"/>
                <a:ea typeface="Noto Sans SC"/>
                <a:cs typeface="Noto Sans SC"/>
              </a:rPr>
            </a:br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PPT 和设计 · D2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601200" y="5676900"/>
            <a:ext cx="1466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B45309"/>
                </a:solidFill>
                <a:latin typeface="Noto Sans SC Bold"/>
                <a:ea typeface="Noto Sans SC Bold"/>
                <a:cs typeface="Noto Sans SC Bold"/>
              </a:rPr>
              <a:t>人工把关的环节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601200" y="60960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缺陷判定与流程纠偏、状态机与权限口径验收、容忍偏差的取舍决策</a:t>
            </a:r>
          </a:p>
        </p:txBody>
      </p:sp>
      <p:sp>
        <p:nvSpPr>
          <p:cNvPr id="19" name="Rectangle"/>
          <p:cNvSpPr/>
          <p:nvPr/>
        </p:nvSpPr>
        <p:spPr>
          <a:xfrm>
            <a:off x="9339263" y="3052763"/>
            <a:ext cx="7800975" cy="3800475"/>
          </a:xfrm>
          <a:prstGeom prst="roundRect">
            <a:avLst>
              <a:gd name="adj" fmla="val 1879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1143000" y="7143750"/>
            <a:ext cx="160020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447800" y="741045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172033"/>
                </a:solidFill>
                <a:latin typeface="Noto Sans SC Bold"/>
                <a:ea typeface="Noto Sans SC Bold"/>
                <a:cs typeface="Noto Sans SC Bold"/>
              </a:rPr>
              <a:t>三条红线</a:t>
            </a:r>
          </a:p>
        </p:txBody>
      </p:sp>
      <p:sp>
        <p:nvSpPr>
          <p:cNvPr id="22" name="Rectangle"/>
          <p:cNvSpPr/>
          <p:nvPr/>
        </p:nvSpPr>
        <p:spPr>
          <a:xfrm>
            <a:off x="1447800" y="7905750"/>
            <a:ext cx="348615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638300" y="8001000"/>
            <a:ext cx="3100502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 ≤ 30%</a:t>
            </a:r>
          </a:p>
        </p:txBody>
      </p:sp>
      <p:sp>
        <p:nvSpPr>
          <p:cNvPr id="24" name="Rectangle"/>
          <p:cNvSpPr/>
          <p:nvPr/>
        </p:nvSpPr>
        <p:spPr>
          <a:xfrm>
            <a:off x="5086350" y="7905750"/>
            <a:ext cx="344805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5276850" y="8001000"/>
            <a:ext cx="306392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 AI </a:t>
            </a:r>
          </a:p>
        </p:txBody>
      </p:sp>
      <p:sp>
        <p:nvSpPr>
          <p:cNvPr id="26" name="Rectangle"/>
          <p:cNvSpPr/>
          <p:nvPr/>
        </p:nvSpPr>
        <p:spPr>
          <a:xfrm>
            <a:off x="8686800" y="7905750"/>
            <a:ext cx="3352800" cy="523875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8877300" y="8001000"/>
            <a:ext cx="2971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DC2626"/>
                </a:solidFill>
                <a:latin typeface="Noto Sans SC Bold"/>
                <a:ea typeface="Noto Sans SC Bold"/>
                <a:cs typeface="Noto Sans SC Bold"/>
              </a:rPr>
              <a:t>答辩全员参与，教师随机点人</a:t>
            </a:r>
          </a:p>
        </p:txBody>
      </p:sp>
      <p:sp>
        <p:nvSpPr>
          <p:cNvPr id="28" name="Rectangle"/>
          <p:cNvSpPr/>
          <p:nvPr/>
        </p:nvSpPr>
        <p:spPr>
          <a:xfrm>
            <a:off x="1147763" y="7148513"/>
            <a:ext cx="15992475" cy="1609725"/>
          </a:xfrm>
          <a:prstGeom prst="roundRect">
            <a:avLst>
              <a:gd name="adj" fmla="val 4437"/>
            </a:avLst>
          </a:prstGeom>
          <a:noFill/>
          <a:ln w="9525">
            <a:solidFill>
              <a:srgbClr val="D9E2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143000" y="9105900"/>
            <a:ext cx="16002000" cy="9525"/>
          </a:xfrm>
          <a:prstGeom prst="rect">
            <a:avLst/>
          </a:prstGeom>
          <a:solidFill>
            <a:srgbClr val="D9E2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43000" y="9277350"/>
            <a:ext cx="70142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 AI 留痕都保留完整提示词与人工修改点 —— 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5240000" y="9277350"/>
            <a:ext cx="641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14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
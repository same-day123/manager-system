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11811000" y="-1524000"/>
            <a:ext cx="8763000" cy="87630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"/>
          <p:cNvSpPr/>
          <p:nvPr/>
        </p:nvSpPr>
        <p:spPr>
          <a:xfrm>
            <a:off x="13335000" y="3619500"/>
            <a:ext cx="4000500" cy="28575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"/>
          <p:cNvSpPr/>
          <p:nvPr/>
        </p:nvSpPr>
        <p:spPr>
          <a:xfrm>
            <a:off x="13339763" y="3624263"/>
            <a:ext cx="3990975" cy="2847975"/>
          </a:xfrm>
          <a:prstGeom prst="roundRect">
            <a:avLst>
              <a:gd name="adj" fmla="val 2508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12763500" y="4143375"/>
            <a:ext cx="4000500" cy="28575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12768263" y="4148138"/>
            <a:ext cx="3990975" cy="2847975"/>
          </a:xfrm>
          <a:prstGeom prst="roundRect">
            <a:avLst>
              <a:gd name="adj" fmla="val 2508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12192000" y="4667250"/>
            <a:ext cx="4000500" cy="28575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12401550" y="4953000"/>
            <a:ext cx="171450" cy="171450"/>
          </a:xfrm>
          <a:prstGeom prst="roundRect">
            <a:avLst>
              <a:gd name="adj" fmla="val 27777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2668250" y="4876800"/>
            <a:ext cx="1143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运维工作台</a:t>
            </a:r>
          </a:p>
        </p:txBody>
      </p:sp>
      <p:sp>
        <p:nvSpPr>
          <p:cNvPr id="11" name="Rectangle"/>
          <p:cNvSpPr/>
          <p:nvPr/>
        </p:nvSpPr>
        <p:spPr>
          <a:xfrm>
            <a:off x="12401550" y="5334000"/>
            <a:ext cx="3581400" cy="152400"/>
          </a:xfrm>
          <a:prstGeom prst="roundRect">
            <a:avLst>
              <a:gd name="adj" fmla="val 25000"/>
            </a:avLst>
          </a:prstGeom>
          <a:solidFill>
            <a:srgbClr val="EDF1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12401550" y="5619750"/>
            <a:ext cx="2857500" cy="152400"/>
          </a:xfrm>
          <a:prstGeom prst="roundRect">
            <a:avLst>
              <a:gd name="adj" fmla="val 25000"/>
            </a:avLst>
          </a:prstGeom>
          <a:solidFill>
            <a:srgbClr val="EDF1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12401550" y="6115050"/>
            <a:ext cx="3581400" cy="838200"/>
          </a:xfrm>
          <a:custGeom>
            <a:avLst/>
            <a:gdLst/>
            <a:ahLst/>
            <a:cxnLst/>
            <a:rect l="0" t="0" r="r" b="b"/>
            <a:pathLst>
              <a:path w="3581400" h="838200">
                <a:moveTo>
                  <a:pt x="0" y="571500"/>
                </a:moveTo>
                <a:lnTo>
                  <a:pt x="590550" y="381000"/>
                </a:lnTo>
                <a:lnTo>
                  <a:pt x="1181100" y="476250"/>
                </a:lnTo>
                <a:lnTo>
                  <a:pt x="1790700" y="152400"/>
                </a:lnTo>
                <a:lnTo>
                  <a:pt x="2381250" y="285750"/>
                </a:lnTo>
                <a:lnTo>
                  <a:pt x="2990850" y="0"/>
                </a:lnTo>
                <a:lnTo>
                  <a:pt x="3581400" y="114300"/>
                </a:lnTo>
                <a:lnTo>
                  <a:pt x="3581400" y="838200"/>
                </a:lnTo>
                <a:lnTo>
                  <a:pt x="0" y="838200"/>
                </a:lnTo>
                <a:lnTo>
                  <a:pt x="0" y="571500"/>
                </a:lnTo>
                <a:close/>
              </a:path>
            </a:pathLst>
          </a:custGeom>
          <a:solidFill>
            <a:srgbClr val="2563EB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ath"/>
          <p:cNvSpPr/>
          <p:nvPr/>
        </p:nvSpPr>
        <p:spPr>
          <a:xfrm>
            <a:off x="12385950" y="6100588"/>
            <a:ext cx="3612335" cy="601563"/>
          </a:xfrm>
          <a:custGeom>
            <a:avLst/>
            <a:gdLst/>
            <a:ahLst/>
            <a:cxnLst/>
            <a:rect l="0" t="0" r="r" b="b"/>
            <a:pathLst>
              <a:path w="3612335" h="601563">
                <a:moveTo>
                  <a:pt x="11214" y="572365"/>
                </a:moveTo>
                <a:lnTo>
                  <a:pt x="601764" y="381865"/>
                </a:lnTo>
                <a:quadBezTo>
                  <a:pt x="603376" y="381344"/>
                  <a:pt x="605065" y="381216"/>
                </a:quadBezTo>
                <a:quadBezTo>
                  <a:pt x="606753" y="381086"/>
                  <a:pt x="608425" y="381357"/>
                </a:quadBezTo>
                <a:lnTo>
                  <a:pt x="1194236" y="475843"/>
                </a:lnTo>
                <a:lnTo>
                  <a:pt x="1799597" y="154245"/>
                </a:lnTo>
                <a:quadBezTo>
                  <a:pt x="1801860" y="153035"/>
                  <a:pt x="1804404" y="152701"/>
                </a:quadBezTo>
                <a:quadBezTo>
                  <a:pt x="1806946" y="152354"/>
                  <a:pt x="1809447" y="152926"/>
                </a:quadBezTo>
                <a:lnTo>
                  <a:pt x="2395220" y="285197"/>
                </a:lnTo>
                <a:lnTo>
                  <a:pt x="3000386" y="1526"/>
                </a:lnTo>
                <a:quadBezTo>
                  <a:pt x="3002438" y="559"/>
                  <a:pt x="3004689" y="284"/>
                </a:quadBezTo>
                <a:quadBezTo>
                  <a:pt x="3006939" y="0"/>
                  <a:pt x="3009165" y="435"/>
                </a:quadBezTo>
                <a:lnTo>
                  <a:pt x="3599715" y="114735"/>
                </a:lnTo>
                <a:quadBezTo>
                  <a:pt x="3605628" y="115704"/>
                  <a:pt x="3608839" y="120764"/>
                </a:quadBezTo>
                <a:quadBezTo>
                  <a:pt x="3612335" y="125630"/>
                  <a:pt x="3611028" y="131477"/>
                </a:quadBezTo>
                <a:quadBezTo>
                  <a:pt x="3610059" y="137391"/>
                  <a:pt x="3604999" y="140601"/>
                </a:quadBezTo>
                <a:quadBezTo>
                  <a:pt x="3600133" y="144097"/>
                  <a:pt x="3594286" y="142790"/>
                </a:quadBezTo>
                <a:lnTo>
                  <a:pt x="3008303" y="29374"/>
                </a:lnTo>
                <a:lnTo>
                  <a:pt x="2402914" y="313149"/>
                </a:lnTo>
                <a:quadBezTo>
                  <a:pt x="2400760" y="314165"/>
                  <a:pt x="2398392" y="314417"/>
                </a:quadBezTo>
                <a:quadBezTo>
                  <a:pt x="2396025" y="314679"/>
                  <a:pt x="2393703" y="314149"/>
                </a:quadBezTo>
                <a:lnTo>
                  <a:pt x="1808323" y="181966"/>
                </a:lnTo>
                <a:lnTo>
                  <a:pt x="1203403" y="503330"/>
                </a:lnTo>
                <a:quadBezTo>
                  <a:pt x="1201342" y="504431"/>
                  <a:pt x="1199036" y="504808"/>
                </a:quadBezTo>
                <a:quadBezTo>
                  <a:pt x="1196732" y="505195"/>
                  <a:pt x="1194425" y="504818"/>
                </a:quadBezTo>
                <a:lnTo>
                  <a:pt x="607267" y="410115"/>
                </a:lnTo>
                <a:lnTo>
                  <a:pt x="19987" y="599560"/>
                </a:lnTo>
                <a:quadBezTo>
                  <a:pt x="14339" y="601563"/>
                  <a:pt x="9087" y="598679"/>
                </a:quadBezTo>
                <a:quadBezTo>
                  <a:pt x="3678" y="596102"/>
                  <a:pt x="2003" y="590349"/>
                </a:quadBezTo>
                <a:quadBezTo>
                  <a:pt x="0" y="584701"/>
                  <a:pt x="2884" y="579449"/>
                </a:quadBezTo>
                <a:quadBezTo>
                  <a:pt x="5461" y="574040"/>
                  <a:pt x="11214" y="572365"/>
                </a:quad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Ellipse"/>
          <p:cNvSpPr/>
          <p:nvPr/>
        </p:nvSpPr>
        <p:spPr>
          <a:xfrm>
            <a:off x="15344775" y="6067425"/>
            <a:ext cx="95250" cy="952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Path"/>
          <p:cNvSpPr/>
          <p:nvPr/>
        </p:nvSpPr>
        <p:spPr>
          <a:xfrm>
            <a:off x="12401550" y="6938963"/>
            <a:ext cx="3581400" cy="9525"/>
          </a:xfrm>
          <a:custGeom>
            <a:avLst/>
            <a:gdLst/>
            <a:ahLst/>
            <a:cxnLst/>
            <a:rect l="0" t="0" r="r" b="b"/>
            <a:pathLst>
              <a:path w="3581400" h="9525">
                <a:moveTo>
                  <a:pt x="3581400" y="0"/>
                </a:moveTo>
                <a:lnTo>
                  <a:pt x="3581400" y="9525"/>
                </a:lnTo>
                <a:lnTo>
                  <a:pt x="0" y="9525"/>
                </a:lnTo>
                <a:lnTo>
                  <a:pt x="0" y="0"/>
                </a:lnTo>
                <a:lnTo>
                  <a:pt x="3581400" y="0"/>
                </a:lnTo>
                <a:close/>
              </a:path>
            </a:pathLst>
          </a:custGeom>
          <a:solidFill>
            <a:srgbClr val="EDF1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"/>
          <p:cNvSpPr/>
          <p:nvPr/>
        </p:nvSpPr>
        <p:spPr>
          <a:xfrm>
            <a:off x="12196763" y="4672013"/>
            <a:ext cx="3990975" cy="2847975"/>
          </a:xfrm>
          <a:prstGeom prst="roundRect">
            <a:avLst>
              <a:gd name="adj" fmla="val 2508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952500" y="2495550"/>
            <a:ext cx="57150" cy="1981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143000" y="2000250"/>
            <a:ext cx="6498947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《软件新技术专题》大作业 · 终期答辩 · 2026-09-22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143000" y="2495550"/>
            <a:ext cx="8001000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7800"/>
              </a:lnSpc>
            </a:pPr>
            <a:r>
              <a:rPr lang="zh-CN" sz="63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高校实验室资产与报修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143000" y="3486150"/>
            <a:ext cx="3200400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7800"/>
              </a:lnSpc>
            </a:pPr>
            <a:r>
              <a:rPr lang="zh-CN" sz="63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管理平台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143000" y="4876800"/>
            <a:ext cx="975451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600"/>
              </a:lnSpc>
            </a:pPr>
            <a:r>
              <a:rPr lang="en-US" sz="24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面向高校二级学院实验室的「资产全生命周期 + 故障报修闭环」管理平台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143000" y="6153150"/>
            <a:ext cx="5459083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第 6 组 · 软件工程 2023-2 · 授课教师 谭清萱</a:t>
            </a:r>
          </a:p>
        </p:txBody>
      </p:sp>
      <p:sp>
        <p:nvSpPr>
          <p:cNvPr id="24" name="Rectangle"/>
          <p:cNvSpPr/>
          <p:nvPr/>
        </p:nvSpPr>
        <p:spPr>
          <a:xfrm>
            <a:off x="1143000" y="89535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3893831" y="9124950"/>
            <a:ext cx="32511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基于若依 RuoYi-Vue 3.9.2 二次开发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143000" y="6591300"/>
            <a:ext cx="7393839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组员：王旻辉 · 巴力江·托力肯别克 · 廖煌 · 迪丽热巴·阿布都西克尔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35881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背景 · 要解决的三个真实痛点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128016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台账、工单、统计各自为政，其实是同一个缺口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990097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三个场景的共同后果是没有履历 —— 查不出谁改的、催不到谁在修、算不出花了多少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51054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09700" y="3314700"/>
            <a:ext cx="7095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痛点 01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09700" y="3848100"/>
            <a:ext cx="3217126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台账靠 Excel 手工维护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09700" y="4543425"/>
            <a:ext cx="45339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资产调拨、报废没有留痕，学期末账实不符，查不出是谁改的</a:t>
            </a:r>
          </a:p>
        </p:txBody>
      </p:sp>
      <p:sp>
        <p:nvSpPr>
          <p:cNvPr id="10" name="Rectangle"/>
          <p:cNvSpPr/>
          <p:nvPr/>
        </p:nvSpPr>
        <p:spPr>
          <a:xfrm>
            <a:off x="1147763" y="3052763"/>
            <a:ext cx="5095875" cy="3419475"/>
          </a:xfrm>
          <a:prstGeom prst="roundRect">
            <a:avLst>
              <a:gd name="adj" fmla="val 208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6591300" y="3048000"/>
            <a:ext cx="51054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6858000" y="3314700"/>
            <a:ext cx="7095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痛点 02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858000" y="3848100"/>
            <a:ext cx="259080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报修靠微信群喊人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6858000" y="4543425"/>
            <a:ext cx="42672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谁报的、谁在修、修到第几步全靠记忆，超时无人催办</a:t>
            </a:r>
          </a:p>
        </p:txBody>
      </p:sp>
      <p:sp>
        <p:nvSpPr>
          <p:cNvPr id="15" name="Rectangle"/>
          <p:cNvSpPr/>
          <p:nvPr/>
        </p:nvSpPr>
        <p:spPr>
          <a:xfrm>
            <a:off x="6596063" y="3052763"/>
            <a:ext cx="5095875" cy="3419475"/>
          </a:xfrm>
          <a:prstGeom prst="roundRect">
            <a:avLst>
              <a:gd name="adj" fmla="val 208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12039600" y="3048000"/>
            <a:ext cx="51054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12306300" y="3314700"/>
            <a:ext cx="7095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痛点 03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2306300" y="3848100"/>
            <a:ext cx="194310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没有统计数据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2306300" y="4543425"/>
            <a:ext cx="45339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一学期修了多少次、哪台设备最常坏、维修费花了多少，完全说不清</a:t>
            </a:r>
          </a:p>
        </p:txBody>
      </p:sp>
      <p:sp>
        <p:nvSpPr>
          <p:cNvPr id="20" name="Rectangle"/>
          <p:cNvSpPr/>
          <p:nvPr/>
        </p:nvSpPr>
        <p:spPr>
          <a:xfrm>
            <a:off x="12044363" y="3052763"/>
            <a:ext cx="5095875" cy="3419475"/>
          </a:xfrm>
          <a:prstGeom prst="roundRect">
            <a:avLst>
              <a:gd name="adj" fmla="val 208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1143000" y="7010400"/>
            <a:ext cx="16002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447800" y="7277100"/>
            <a:ext cx="11430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一句话定位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447800" y="7724775"/>
            <a:ext cx="10987887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7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面向高校二级学院实验室的「资产全生命周期 + 故障报修闭环」管理平台</a:t>
            </a:r>
          </a:p>
        </p:txBody>
      </p:sp>
      <p:sp>
        <p:nvSpPr>
          <p:cNvPr id="24" name="Rectangle"/>
          <p:cNvSpPr/>
          <p:nvPr/>
        </p:nvSpPr>
        <p:spPr>
          <a:xfrm>
            <a:off x="1147763" y="7015163"/>
            <a:ext cx="15992475" cy="1419225"/>
          </a:xfrm>
          <a:prstGeom prst="roundRect">
            <a:avLst>
              <a:gd name="adj" fmla="val 5033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1143000" y="9277350"/>
            <a:ext cx="756978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三个痛点的共同点：都没有履历 —— 每次变动、每张工单、每个学期都留不下证据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5213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系统全景 · 四层架构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115824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6000"/>
              </a:lnSpc>
            </a:pPr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自定义代码只住一个包，不污染若依脚手架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897312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全部业务代码位于 com.ruoyi.project.laboratory，与若依原生模块物理隔离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2952750"/>
            <a:ext cx="16002000" cy="108585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333500" y="3133725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展示层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333500" y="3571875"/>
            <a:ext cx="273169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Vue 3.5 · Element Plus 2.13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5562600" y="3333750"/>
            <a:ext cx="2743886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en-US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三个业务页 + 首页运维看板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3152634" y="3352800"/>
            <a:ext cx="380144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views/laboratory/**　views/index.vue</a:t>
            </a:r>
          </a:p>
        </p:txBody>
      </p:sp>
      <p:sp>
        <p:nvSpPr>
          <p:cNvPr id="11" name="Rectangle"/>
          <p:cNvSpPr/>
          <p:nvPr/>
        </p:nvSpPr>
        <p:spPr>
          <a:xfrm>
            <a:off x="1147763" y="2957513"/>
            <a:ext cx="15992475" cy="1076325"/>
          </a:xfrm>
          <a:prstGeom prst="roundRect">
            <a:avLst>
              <a:gd name="adj" fmla="val 66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1143000" y="4171950"/>
            <a:ext cx="16002000" cy="108585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1333500" y="4352925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业务层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333500" y="4791075"/>
            <a:ext cx="351876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Spring Boot 2.5.15 · Security + JWT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5562600" y="4552950"/>
            <a:ext cx="4193668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en-US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四个业务领域各一套 Controller + Service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4062081" y="4572000"/>
            <a:ext cx="288906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com.ruoyi.project.laboratory</a:t>
            </a:r>
          </a:p>
        </p:txBody>
      </p:sp>
      <p:sp>
        <p:nvSpPr>
          <p:cNvPr id="17" name="Rectangle"/>
          <p:cNvSpPr/>
          <p:nvPr/>
        </p:nvSpPr>
        <p:spPr>
          <a:xfrm>
            <a:off x="1147763" y="4176713"/>
            <a:ext cx="15992475" cy="1076325"/>
          </a:xfrm>
          <a:prstGeom prst="roundRect">
            <a:avLst>
              <a:gd name="adj" fmla="val 66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1143000" y="5391150"/>
            <a:ext cx="16002000" cy="108585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333500" y="5572125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持久化层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333500" y="6010275"/>
            <a:ext cx="226565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MyBatis · Mapper XML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5562600" y="5772150"/>
            <a:ext cx="3658743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en-US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自定义 Mapper 只读写自己的业务表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3365328" y="5791200"/>
            <a:ext cx="35891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resources/mybatis/laboratory/*.xml</a:t>
            </a:r>
          </a:p>
        </p:txBody>
      </p:sp>
      <p:sp>
        <p:nvSpPr>
          <p:cNvPr id="23" name="Rectangle"/>
          <p:cNvSpPr/>
          <p:nvPr/>
        </p:nvSpPr>
        <p:spPr>
          <a:xfrm>
            <a:off x="1147763" y="5395913"/>
            <a:ext cx="15992475" cy="1076325"/>
          </a:xfrm>
          <a:prstGeom prst="roundRect">
            <a:avLst>
              <a:gd name="adj" fmla="val 66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"/>
          <p:cNvSpPr/>
          <p:nvPr/>
        </p:nvSpPr>
        <p:spPr>
          <a:xfrm>
            <a:off x="1143000" y="6610350"/>
            <a:ext cx="16002000" cy="108585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333500" y="6791325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数据库层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333500" y="7229475"/>
            <a:ext cx="2925528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MySQL 8 · education_system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5562600" y="6991350"/>
            <a:ext cx="424304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5 张业务表 + 4 组字典，删除一律逻辑删除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2226005" y="7010400"/>
            <a:ext cx="472849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lab_room · lab_asset · lab_repair · *_record</a:t>
            </a:r>
          </a:p>
        </p:txBody>
      </p:sp>
      <p:sp>
        <p:nvSpPr>
          <p:cNvPr id="29" name="Rectangle"/>
          <p:cNvSpPr/>
          <p:nvPr/>
        </p:nvSpPr>
        <p:spPr>
          <a:xfrm>
            <a:off x="1147763" y="6615113"/>
            <a:ext cx="15992475" cy="1076325"/>
          </a:xfrm>
          <a:prstGeom prst="roundRect">
            <a:avLst>
              <a:gd name="adj" fmla="val 66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143000" y="9277350"/>
            <a:ext cx="1301263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SOLID 落点：SRP LabRepairServiceImpl 不碰资产表 · OCP LabRoleUtils＋LabConstants · ISP 四个接口各自成域 · DIP 控制器依赖接口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6503776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03 / 14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143000" y="8162925"/>
            <a:ext cx="13716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四个业务模块</a:t>
            </a:r>
          </a:p>
        </p:txBody>
      </p:sp>
      <p:sp>
        <p:nvSpPr>
          <p:cNvPr id="34" name="Rectangle"/>
          <p:cNvSpPr/>
          <p:nvPr/>
        </p:nvSpPr>
        <p:spPr>
          <a:xfrm>
            <a:off x="2647950" y="8029575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2781300" y="8267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2990850" y="8162925"/>
            <a:ext cx="1143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实验室房间</a:t>
            </a:r>
          </a:p>
        </p:txBody>
      </p:sp>
      <p:sp>
        <p:nvSpPr>
          <p:cNvPr id="37" name="Rectangle"/>
          <p:cNvSpPr/>
          <p:nvPr/>
        </p:nvSpPr>
        <p:spPr>
          <a:xfrm>
            <a:off x="2652713" y="8034338"/>
            <a:ext cx="1609725" cy="581025"/>
          </a:xfrm>
          <a:prstGeom prst="roundRect">
            <a:avLst>
              <a:gd name="adj" fmla="val 122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"/>
          <p:cNvSpPr/>
          <p:nvPr/>
        </p:nvSpPr>
        <p:spPr>
          <a:xfrm>
            <a:off x="4400550" y="8029575"/>
            <a:ext cx="13906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"/>
          <p:cNvSpPr/>
          <p:nvPr/>
        </p:nvSpPr>
        <p:spPr>
          <a:xfrm>
            <a:off x="4533900" y="8267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4743450" y="8162925"/>
            <a:ext cx="9144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资产台账</a:t>
            </a:r>
          </a:p>
        </p:txBody>
      </p:sp>
      <p:sp>
        <p:nvSpPr>
          <p:cNvPr id="41" name="Rectangle"/>
          <p:cNvSpPr/>
          <p:nvPr/>
        </p:nvSpPr>
        <p:spPr>
          <a:xfrm>
            <a:off x="4405313" y="8034338"/>
            <a:ext cx="1381125" cy="581025"/>
          </a:xfrm>
          <a:prstGeom prst="roundRect">
            <a:avLst>
              <a:gd name="adj" fmla="val 122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"/>
          <p:cNvSpPr/>
          <p:nvPr/>
        </p:nvSpPr>
        <p:spPr>
          <a:xfrm>
            <a:off x="5924550" y="8029575"/>
            <a:ext cx="13906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"/>
          <p:cNvSpPr/>
          <p:nvPr/>
        </p:nvSpPr>
        <p:spPr>
          <a:xfrm>
            <a:off x="6057900" y="8267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"/>
          <p:cNvSpPr txBox="1"/>
          <p:nvPr/>
        </p:nvSpPr>
        <p:spPr>
          <a:xfrm>
            <a:off x="6267450" y="8162925"/>
            <a:ext cx="9144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设备报修</a:t>
            </a:r>
          </a:p>
        </p:txBody>
      </p:sp>
      <p:sp>
        <p:nvSpPr>
          <p:cNvPr id="45" name="Rectangle"/>
          <p:cNvSpPr/>
          <p:nvPr/>
        </p:nvSpPr>
        <p:spPr>
          <a:xfrm>
            <a:off x="5929313" y="8034338"/>
            <a:ext cx="1381125" cy="581025"/>
          </a:xfrm>
          <a:prstGeom prst="roundRect">
            <a:avLst>
              <a:gd name="adj" fmla="val 122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"/>
          <p:cNvSpPr/>
          <p:nvPr/>
        </p:nvSpPr>
        <p:spPr>
          <a:xfrm>
            <a:off x="7448550" y="8029575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"/>
          <p:cNvSpPr/>
          <p:nvPr/>
        </p:nvSpPr>
        <p:spPr>
          <a:xfrm>
            <a:off x="7581900" y="8267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"/>
          <p:cNvSpPr txBox="1"/>
          <p:nvPr/>
        </p:nvSpPr>
        <p:spPr>
          <a:xfrm>
            <a:off x="7791450" y="8162925"/>
            <a:ext cx="1143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运维工作台</a:t>
            </a:r>
          </a:p>
        </p:txBody>
      </p:sp>
      <p:sp>
        <p:nvSpPr>
          <p:cNvPr id="49" name="Rectangle"/>
          <p:cNvSpPr/>
          <p:nvPr/>
        </p:nvSpPr>
        <p:spPr>
          <a:xfrm>
            <a:off x="7453313" y="8034338"/>
            <a:ext cx="1609725" cy="581025"/>
          </a:xfrm>
          <a:prstGeom prst="roundRect">
            <a:avLst>
              <a:gd name="adj" fmla="val 122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"/>
          <p:cNvSpPr txBox="1"/>
          <p:nvPr/>
        </p:nvSpPr>
        <p:spPr>
          <a:xfrm>
            <a:off x="12104694" y="8153400"/>
            <a:ext cx="504030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接口前缀 /laboratory/{room|asset|repair|dashboard}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7880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核心契约 · 报修状态机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6000"/>
              </a:lnSpc>
            </a:pPr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资产状态由报修工单驱动，不允许手工改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788125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流转规则只写在 validateStatusChange 一处，非法流转直接抛异常</a:t>
            </a:r>
          </a:p>
        </p:txBody>
      </p:sp>
      <p:sp>
        <p:nvSpPr>
          <p:cNvPr id="6" name="Rectangle"/>
          <p:cNvSpPr/>
          <p:nvPr/>
        </p:nvSpPr>
        <p:spPr>
          <a:xfrm>
            <a:off x="1762125" y="3048000"/>
            <a:ext cx="2762250" cy="1200150"/>
          </a:xfrm>
          <a:prstGeom prst="roundRect">
            <a:avLst>
              <a:gd name="adj" fmla="val 6349"/>
            </a:avLst>
          </a:prstGeom>
          <a:solidFill>
            <a:srgbClr val="FFFB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2852080" y="3276600"/>
            <a:ext cx="58234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B45309"/>
                </a:solidFill>
                <a:latin typeface="Noto Sans SC"/>
                <a:ea typeface="Noto Sans SC"/>
                <a:cs typeface="Noto Sans SC"/>
              </a:rPr>
              <a:t>状态 0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686050" y="3619500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B45309"/>
                </a:solidFill>
                <a:latin typeface="Noto Sans SC Bold"/>
                <a:ea typeface="Noto Sans SC Bold"/>
                <a:cs typeface="Noto Sans SC Bold"/>
              </a:rPr>
              <a:t>待审核</a:t>
            </a:r>
          </a:p>
        </p:txBody>
      </p:sp>
      <p:sp>
        <p:nvSpPr>
          <p:cNvPr id="9" name="Rectangle"/>
          <p:cNvSpPr/>
          <p:nvPr/>
        </p:nvSpPr>
        <p:spPr>
          <a:xfrm>
            <a:off x="1771650" y="3057525"/>
            <a:ext cx="2743200" cy="1181100"/>
          </a:xfrm>
          <a:prstGeom prst="roundRect">
            <a:avLst>
              <a:gd name="adj" fmla="val 5645"/>
            </a:avLst>
          </a:prstGeom>
          <a:noFill/>
          <a:ln w="19050">
            <a:solidFill>
              <a:srgbClr val="F59E0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4533785" y="3667010"/>
            <a:ext cx="1067030" cy="19280"/>
          </a:xfrm>
          <a:custGeom>
            <a:avLst/>
            <a:gdLst/>
            <a:ahLst/>
            <a:cxnLst/>
            <a:rect l="0" t="0" r="r" b="b"/>
            <a:pathLst>
              <a:path w="1067030" h="19280">
                <a:moveTo>
                  <a:pt x="9640" y="115"/>
                </a:moveTo>
                <a:lnTo>
                  <a:pt x="1057390" y="115"/>
                </a:lnTo>
                <a:quadBezTo>
                  <a:pt x="1061383" y="0"/>
                  <a:pt x="1064125" y="2905"/>
                </a:quadBezTo>
                <a:quadBezTo>
                  <a:pt x="1067030" y="5647"/>
                  <a:pt x="1066915" y="9640"/>
                </a:quadBezTo>
                <a:quadBezTo>
                  <a:pt x="1067030" y="13633"/>
                  <a:pt x="1064125" y="16375"/>
                </a:quadBezTo>
                <a:quadBezTo>
                  <a:pt x="1061383" y="19280"/>
                  <a:pt x="1057390" y="19165"/>
                </a:quadBezTo>
                <a:lnTo>
                  <a:pt x="9640" y="19165"/>
                </a:lnTo>
                <a:quadBezTo>
                  <a:pt x="5647" y="19280"/>
                  <a:pt x="2905" y="16375"/>
                </a:quadBezTo>
                <a:quadBezTo>
                  <a:pt x="0" y="13633"/>
                  <a:pt x="115" y="9640"/>
                </a:quadBez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5542667" y="3599567"/>
            <a:ext cx="154166" cy="154166"/>
          </a:xfrm>
          <a:custGeom>
            <a:avLst/>
            <a:gdLst/>
            <a:ahLst/>
            <a:cxnLst/>
            <a:rect l="0" t="0" r="r" b="b"/>
            <a:pathLst>
              <a:path w="154166" h="154166">
                <a:moveTo>
                  <a:pt x="14668" y="1889"/>
                </a:moveTo>
                <a:lnTo>
                  <a:pt x="148018" y="68564"/>
                </a:lnTo>
                <a:quadBezTo>
                  <a:pt x="151640" y="70246"/>
                  <a:pt x="152794" y="74071"/>
                </a:quadBezTo>
                <a:quadBezTo>
                  <a:pt x="154166" y="77823"/>
                  <a:pt x="152277" y="81343"/>
                </a:quadBezTo>
                <a:quadBezTo>
                  <a:pt x="151589" y="82727"/>
                  <a:pt x="150493" y="83818"/>
                </a:quadBezTo>
                <a:quadBezTo>
                  <a:pt x="149402" y="84914"/>
                  <a:pt x="148018" y="85602"/>
                </a:quadBezTo>
                <a:lnTo>
                  <a:pt x="14668" y="152277"/>
                </a:lnTo>
                <a:quadBezTo>
                  <a:pt x="11148" y="154166"/>
                  <a:pt x="7396" y="152794"/>
                </a:quadBezTo>
                <a:quadBezTo>
                  <a:pt x="3571" y="151640"/>
                  <a:pt x="1889" y="148018"/>
                </a:quadBezTo>
                <a:quadBezTo>
                  <a:pt x="0" y="144498"/>
                  <a:pt x="1372" y="140746"/>
                </a:quadBezTo>
                <a:quadBezTo>
                  <a:pt x="2525" y="136921"/>
                  <a:pt x="6148" y="135239"/>
                </a:quadBezTo>
                <a:lnTo>
                  <a:pt x="122459" y="77083"/>
                </a:lnTo>
                <a:lnTo>
                  <a:pt x="6148" y="18927"/>
                </a:lnTo>
                <a:quadBezTo>
                  <a:pt x="2525" y="17244"/>
                  <a:pt x="1372" y="13420"/>
                </a:quadBezTo>
                <a:quadBezTo>
                  <a:pt x="0" y="9668"/>
                  <a:pt x="1889" y="6148"/>
                </a:quadBezTo>
                <a:quadBezTo>
                  <a:pt x="3571" y="2525"/>
                  <a:pt x="7396" y="1372"/>
                </a:quadBezTo>
                <a:quadBezTo>
                  <a:pt x="11148" y="0"/>
                  <a:pt x="14668" y="1889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4724400" y="32194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审核通过</a:t>
            </a:r>
          </a:p>
        </p:txBody>
      </p:sp>
      <p:sp>
        <p:nvSpPr>
          <p:cNvPr id="13" name="Rectangle"/>
          <p:cNvSpPr/>
          <p:nvPr/>
        </p:nvSpPr>
        <p:spPr>
          <a:xfrm>
            <a:off x="5762625" y="3048000"/>
            <a:ext cx="2762250" cy="1200150"/>
          </a:xfrm>
          <a:prstGeom prst="roundRect">
            <a:avLst>
              <a:gd name="adj" fmla="val 634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6852580" y="3276600"/>
            <a:ext cx="58234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状态 1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686550" y="3619500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待维修</a:t>
            </a:r>
          </a:p>
        </p:txBody>
      </p:sp>
      <p:sp>
        <p:nvSpPr>
          <p:cNvPr id="16" name="Rectangle"/>
          <p:cNvSpPr/>
          <p:nvPr/>
        </p:nvSpPr>
        <p:spPr>
          <a:xfrm>
            <a:off x="5772150" y="3057525"/>
            <a:ext cx="2743200" cy="1181100"/>
          </a:xfrm>
          <a:prstGeom prst="roundRect">
            <a:avLst>
              <a:gd name="adj" fmla="val 5645"/>
            </a:avLst>
          </a:prstGeom>
          <a:noFill/>
          <a:ln w="19050">
            <a:solidFill>
              <a:srgbClr val="2563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Path"/>
          <p:cNvSpPr/>
          <p:nvPr/>
        </p:nvSpPr>
        <p:spPr>
          <a:xfrm>
            <a:off x="8534285" y="3667010"/>
            <a:ext cx="1067030" cy="19280"/>
          </a:xfrm>
          <a:custGeom>
            <a:avLst/>
            <a:gdLst/>
            <a:ahLst/>
            <a:cxnLst/>
            <a:rect l="0" t="0" r="r" b="b"/>
            <a:pathLst>
              <a:path w="1067030" h="19280">
                <a:moveTo>
                  <a:pt x="9640" y="115"/>
                </a:moveTo>
                <a:lnTo>
                  <a:pt x="1057390" y="115"/>
                </a:lnTo>
                <a:quadBezTo>
                  <a:pt x="1061383" y="0"/>
                  <a:pt x="1064125" y="2905"/>
                </a:quadBezTo>
                <a:quadBezTo>
                  <a:pt x="1067030" y="5647"/>
                  <a:pt x="1066915" y="9640"/>
                </a:quadBezTo>
                <a:quadBezTo>
                  <a:pt x="1067030" y="13633"/>
                  <a:pt x="1064125" y="16375"/>
                </a:quadBezTo>
                <a:quadBezTo>
                  <a:pt x="1061383" y="19280"/>
                  <a:pt x="1057390" y="19165"/>
                </a:quadBezTo>
                <a:lnTo>
                  <a:pt x="9640" y="19165"/>
                </a:lnTo>
                <a:quadBezTo>
                  <a:pt x="5647" y="19280"/>
                  <a:pt x="2905" y="16375"/>
                </a:quadBezTo>
                <a:quadBezTo>
                  <a:pt x="0" y="13633"/>
                  <a:pt x="115" y="9640"/>
                </a:quadBez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ath"/>
          <p:cNvSpPr/>
          <p:nvPr/>
        </p:nvSpPr>
        <p:spPr>
          <a:xfrm>
            <a:off x="9543167" y="3599567"/>
            <a:ext cx="154166" cy="154166"/>
          </a:xfrm>
          <a:custGeom>
            <a:avLst/>
            <a:gdLst/>
            <a:ahLst/>
            <a:cxnLst/>
            <a:rect l="0" t="0" r="r" b="b"/>
            <a:pathLst>
              <a:path w="154166" h="154166">
                <a:moveTo>
                  <a:pt x="14668" y="1889"/>
                </a:moveTo>
                <a:lnTo>
                  <a:pt x="148018" y="68564"/>
                </a:lnTo>
                <a:quadBezTo>
                  <a:pt x="151640" y="70246"/>
                  <a:pt x="152794" y="74071"/>
                </a:quadBezTo>
                <a:quadBezTo>
                  <a:pt x="154166" y="77823"/>
                  <a:pt x="152277" y="81343"/>
                </a:quadBezTo>
                <a:quadBezTo>
                  <a:pt x="151589" y="82727"/>
                  <a:pt x="150493" y="83818"/>
                </a:quadBezTo>
                <a:quadBezTo>
                  <a:pt x="149402" y="84914"/>
                  <a:pt x="148018" y="85602"/>
                </a:quadBezTo>
                <a:lnTo>
                  <a:pt x="14668" y="152277"/>
                </a:lnTo>
                <a:quadBezTo>
                  <a:pt x="11148" y="154166"/>
                  <a:pt x="7396" y="152794"/>
                </a:quadBezTo>
                <a:quadBezTo>
                  <a:pt x="3571" y="151640"/>
                  <a:pt x="1889" y="148018"/>
                </a:quadBezTo>
                <a:quadBezTo>
                  <a:pt x="0" y="144498"/>
                  <a:pt x="1372" y="140746"/>
                </a:quadBezTo>
                <a:quadBezTo>
                  <a:pt x="2525" y="136921"/>
                  <a:pt x="6148" y="135239"/>
                </a:quadBezTo>
                <a:lnTo>
                  <a:pt x="122459" y="77083"/>
                </a:lnTo>
                <a:lnTo>
                  <a:pt x="6148" y="18927"/>
                </a:lnTo>
                <a:quadBezTo>
                  <a:pt x="2525" y="17244"/>
                  <a:pt x="1372" y="13420"/>
                </a:quadBezTo>
                <a:quadBezTo>
                  <a:pt x="0" y="9668"/>
                  <a:pt x="1889" y="6148"/>
                </a:quadBezTo>
                <a:quadBezTo>
                  <a:pt x="3571" y="2525"/>
                  <a:pt x="7396" y="1372"/>
                </a:quadBezTo>
                <a:quadBezTo>
                  <a:pt x="11148" y="0"/>
                  <a:pt x="14668" y="1889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8724900" y="32194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开始维修</a:t>
            </a:r>
          </a:p>
        </p:txBody>
      </p:sp>
      <p:sp>
        <p:nvSpPr>
          <p:cNvPr id="20" name="Path"/>
          <p:cNvSpPr/>
          <p:nvPr/>
        </p:nvSpPr>
        <p:spPr>
          <a:xfrm>
            <a:off x="12534785" y="3667010"/>
            <a:ext cx="1067030" cy="19280"/>
          </a:xfrm>
          <a:custGeom>
            <a:avLst/>
            <a:gdLst/>
            <a:ahLst/>
            <a:cxnLst/>
            <a:rect l="0" t="0" r="r" b="b"/>
            <a:pathLst>
              <a:path w="1067030" h="19280">
                <a:moveTo>
                  <a:pt x="9640" y="115"/>
                </a:moveTo>
                <a:lnTo>
                  <a:pt x="1057390" y="115"/>
                </a:lnTo>
                <a:quadBezTo>
                  <a:pt x="1061383" y="0"/>
                  <a:pt x="1064125" y="2905"/>
                </a:quadBezTo>
                <a:quadBezTo>
                  <a:pt x="1067030" y="5647"/>
                  <a:pt x="1066915" y="9640"/>
                </a:quadBezTo>
                <a:quadBezTo>
                  <a:pt x="1067030" y="13633"/>
                  <a:pt x="1064125" y="16375"/>
                </a:quadBezTo>
                <a:quadBezTo>
                  <a:pt x="1061383" y="19280"/>
                  <a:pt x="1057390" y="19165"/>
                </a:quadBezTo>
                <a:lnTo>
                  <a:pt x="9640" y="19165"/>
                </a:lnTo>
                <a:quadBezTo>
                  <a:pt x="5647" y="19280"/>
                  <a:pt x="2905" y="16375"/>
                </a:quadBezTo>
                <a:quadBezTo>
                  <a:pt x="0" y="13633"/>
                  <a:pt x="115" y="9640"/>
                </a:quadBez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ath"/>
          <p:cNvSpPr/>
          <p:nvPr/>
        </p:nvSpPr>
        <p:spPr>
          <a:xfrm>
            <a:off x="13543667" y="3599567"/>
            <a:ext cx="154166" cy="154166"/>
          </a:xfrm>
          <a:custGeom>
            <a:avLst/>
            <a:gdLst/>
            <a:ahLst/>
            <a:cxnLst/>
            <a:rect l="0" t="0" r="r" b="b"/>
            <a:pathLst>
              <a:path w="154166" h="154166">
                <a:moveTo>
                  <a:pt x="14668" y="1889"/>
                </a:moveTo>
                <a:lnTo>
                  <a:pt x="148018" y="68564"/>
                </a:lnTo>
                <a:quadBezTo>
                  <a:pt x="151640" y="70246"/>
                  <a:pt x="152794" y="74071"/>
                </a:quadBezTo>
                <a:quadBezTo>
                  <a:pt x="154166" y="77823"/>
                  <a:pt x="152277" y="81343"/>
                </a:quadBezTo>
                <a:quadBezTo>
                  <a:pt x="151589" y="82727"/>
                  <a:pt x="150493" y="83818"/>
                </a:quadBezTo>
                <a:quadBezTo>
                  <a:pt x="149402" y="84914"/>
                  <a:pt x="148018" y="85602"/>
                </a:quadBezTo>
                <a:lnTo>
                  <a:pt x="14668" y="152277"/>
                </a:lnTo>
                <a:quadBezTo>
                  <a:pt x="11148" y="154166"/>
                  <a:pt x="7396" y="152794"/>
                </a:quadBezTo>
                <a:quadBezTo>
                  <a:pt x="3571" y="151640"/>
                  <a:pt x="1889" y="148018"/>
                </a:quadBezTo>
                <a:quadBezTo>
                  <a:pt x="0" y="144498"/>
                  <a:pt x="1372" y="140746"/>
                </a:quadBezTo>
                <a:quadBezTo>
                  <a:pt x="2525" y="136921"/>
                  <a:pt x="6148" y="135239"/>
                </a:quadBezTo>
                <a:lnTo>
                  <a:pt x="122459" y="77083"/>
                </a:lnTo>
                <a:lnTo>
                  <a:pt x="6148" y="18927"/>
                </a:lnTo>
                <a:quadBezTo>
                  <a:pt x="2525" y="17244"/>
                  <a:pt x="1372" y="13420"/>
                </a:quadBezTo>
                <a:quadBezTo>
                  <a:pt x="0" y="9668"/>
                  <a:pt x="1889" y="6148"/>
                </a:quadBezTo>
                <a:quadBezTo>
                  <a:pt x="3571" y="2525"/>
                  <a:pt x="7396" y="1372"/>
                </a:quadBezTo>
                <a:quadBezTo>
                  <a:pt x="11148" y="0"/>
                  <a:pt x="14668" y="1889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2725400" y="32194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维修完成</a:t>
            </a:r>
          </a:p>
        </p:txBody>
      </p:sp>
      <p:sp>
        <p:nvSpPr>
          <p:cNvPr id="23" name="Rectangle"/>
          <p:cNvSpPr/>
          <p:nvPr/>
        </p:nvSpPr>
        <p:spPr>
          <a:xfrm>
            <a:off x="9763125" y="3048000"/>
            <a:ext cx="2762250" cy="1200150"/>
          </a:xfrm>
          <a:prstGeom prst="roundRect">
            <a:avLst>
              <a:gd name="adj" fmla="val 6349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10853081" y="3276600"/>
            <a:ext cx="58234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状态 2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0687050" y="3619500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维修中</a:t>
            </a:r>
          </a:p>
        </p:txBody>
      </p:sp>
      <p:sp>
        <p:nvSpPr>
          <p:cNvPr id="26" name="Rectangle"/>
          <p:cNvSpPr/>
          <p:nvPr/>
        </p:nvSpPr>
        <p:spPr>
          <a:xfrm>
            <a:off x="9772650" y="3057525"/>
            <a:ext cx="2743200" cy="1181100"/>
          </a:xfrm>
          <a:prstGeom prst="roundRect">
            <a:avLst>
              <a:gd name="adj" fmla="val 5645"/>
            </a:avLst>
          </a:prstGeom>
          <a:noFill/>
          <a:ln w="19050">
            <a:solidFill>
              <a:srgbClr val="2563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13763625" y="3048000"/>
            <a:ext cx="2762250" cy="1200150"/>
          </a:xfrm>
          <a:prstGeom prst="roundRect">
            <a:avLst>
              <a:gd name="adj" fmla="val 6349"/>
            </a:avLst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14853581" y="3276600"/>
            <a:ext cx="58234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状态 3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4687550" y="3619500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已完成</a:t>
            </a:r>
          </a:p>
        </p:txBody>
      </p:sp>
      <p:sp>
        <p:nvSpPr>
          <p:cNvPr id="30" name="Rectangle"/>
          <p:cNvSpPr/>
          <p:nvPr/>
        </p:nvSpPr>
        <p:spPr>
          <a:xfrm>
            <a:off x="13773150" y="3057525"/>
            <a:ext cx="2743200" cy="1181100"/>
          </a:xfrm>
          <a:prstGeom prst="roundRect">
            <a:avLst>
              <a:gd name="adj" fmla="val 5645"/>
            </a:avLst>
          </a:prstGeom>
          <a:noFill/>
          <a:ln w="19050">
            <a:solidFill>
              <a:srgbClr val="15803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1" name="Path"/>
          <p:cNvSpPr/>
          <p:nvPr/>
        </p:nvSpPr>
        <p:spPr>
          <a:xfrm>
            <a:off x="3133610" y="4257560"/>
            <a:ext cx="19280" cy="400280"/>
          </a:xfrm>
          <a:custGeom>
            <a:avLst/>
            <a:gdLst/>
            <a:ahLst/>
            <a:cxnLst/>
            <a:rect l="0" t="0" r="r" b="b"/>
            <a:pathLst>
              <a:path w="19280" h="400280">
                <a:moveTo>
                  <a:pt x="19165" y="9640"/>
                </a:moveTo>
                <a:lnTo>
                  <a:pt x="19165" y="390640"/>
                </a:lnTo>
                <a:quadBezTo>
                  <a:pt x="19280" y="394633"/>
                  <a:pt x="16375" y="397375"/>
                </a:quadBezTo>
                <a:quadBezTo>
                  <a:pt x="13633" y="400280"/>
                  <a:pt x="9640" y="400165"/>
                </a:quadBezTo>
                <a:quadBezTo>
                  <a:pt x="5647" y="400280"/>
                  <a:pt x="2905" y="397375"/>
                </a:quadBezTo>
                <a:quadBezTo>
                  <a:pt x="0" y="394633"/>
                  <a:pt x="115" y="390640"/>
                </a:quadBezTo>
                <a:lnTo>
                  <a:pt x="115" y="9640"/>
                </a:ln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quadBezTo>
                  <a:pt x="13633" y="0"/>
                  <a:pt x="16375" y="2905"/>
                </a:quadBezTo>
                <a:quadBezTo>
                  <a:pt x="19280" y="5647"/>
                  <a:pt x="19165" y="9640"/>
                </a:quadBezTo>
                <a:close/>
              </a:path>
            </a:pathLst>
          </a:cu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Path"/>
          <p:cNvSpPr/>
          <p:nvPr/>
        </p:nvSpPr>
        <p:spPr>
          <a:xfrm>
            <a:off x="3066194" y="4599719"/>
            <a:ext cx="154112" cy="144587"/>
          </a:xfrm>
          <a:custGeom>
            <a:avLst/>
            <a:gdLst/>
            <a:ahLst/>
            <a:cxnLst/>
            <a:rect l="0" t="0" r="r" b="b"/>
            <a:pathLst>
              <a:path w="154112" h="144587">
                <a:moveTo>
                  <a:pt x="18767" y="5865"/>
                </a:moveTo>
                <a:lnTo>
                  <a:pt x="77056" y="114115"/>
                </a:lnTo>
                <a:lnTo>
                  <a:pt x="135344" y="5865"/>
                </a:lnTo>
                <a:quadBezTo>
                  <a:pt x="137136" y="2295"/>
                  <a:pt x="140994" y="1257"/>
                </a:quadBezTo>
                <a:quadBezTo>
                  <a:pt x="144785" y="0"/>
                  <a:pt x="148247" y="1994"/>
                </a:quadBezTo>
                <a:quadBezTo>
                  <a:pt x="151817" y="3786"/>
                  <a:pt x="152854" y="7644"/>
                </a:quadBezTo>
                <a:quadBezTo>
                  <a:pt x="154112" y="11435"/>
                  <a:pt x="152117" y="14897"/>
                </a:quadBezTo>
                <a:lnTo>
                  <a:pt x="85442" y="138722"/>
                </a:lnTo>
                <a:quadBezTo>
                  <a:pt x="84781" y="139954"/>
                  <a:pt x="83791" y="140941"/>
                </a:quadBezTo>
                <a:quadBezTo>
                  <a:pt x="82804" y="141931"/>
                  <a:pt x="81572" y="142592"/>
                </a:quadBezTo>
                <a:quadBezTo>
                  <a:pt x="78110" y="144587"/>
                  <a:pt x="74319" y="143329"/>
                </a:quadBezTo>
                <a:quadBezTo>
                  <a:pt x="70461" y="142292"/>
                  <a:pt x="68669" y="138722"/>
                </a:quadBezTo>
                <a:lnTo>
                  <a:pt x="1994" y="14897"/>
                </a:lnTo>
                <a:quadBezTo>
                  <a:pt x="0" y="11435"/>
                  <a:pt x="1257" y="7644"/>
                </a:quadBezTo>
                <a:quadBezTo>
                  <a:pt x="2295" y="3786"/>
                  <a:pt x="5865" y="1994"/>
                </a:quadBezTo>
                <a:quadBezTo>
                  <a:pt x="9326" y="0"/>
                  <a:pt x="13118" y="1257"/>
                </a:quadBezTo>
                <a:quadBezTo>
                  <a:pt x="16975" y="2295"/>
                  <a:pt x="18767" y="5865"/>
                </a:quadBezTo>
                <a:close/>
              </a:path>
            </a:pathLst>
          </a:cu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3352800" y="4362450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拒绝</a:t>
            </a:r>
          </a:p>
        </p:txBody>
      </p:sp>
      <p:sp>
        <p:nvSpPr>
          <p:cNvPr id="34" name="Rectangle"/>
          <p:cNvSpPr/>
          <p:nvPr/>
        </p:nvSpPr>
        <p:spPr>
          <a:xfrm>
            <a:off x="1762125" y="4857750"/>
            <a:ext cx="2762250" cy="1047750"/>
          </a:xfrm>
          <a:prstGeom prst="roundRect">
            <a:avLst>
              <a:gd name="adj" fmla="val 7272"/>
            </a:avLst>
          </a:prstGeom>
          <a:solidFill>
            <a:srgbClr val="FE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2852080" y="5010150"/>
            <a:ext cx="58234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状态 4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2686050" y="5353050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DC2626"/>
                </a:solidFill>
                <a:latin typeface="Noto Sans SC Bold"/>
                <a:ea typeface="Noto Sans SC Bold"/>
                <a:cs typeface="Noto Sans SC Bold"/>
              </a:rPr>
              <a:t>已拒绝</a:t>
            </a:r>
          </a:p>
        </p:txBody>
      </p:sp>
      <p:sp>
        <p:nvSpPr>
          <p:cNvPr id="37" name="Rectangle"/>
          <p:cNvSpPr/>
          <p:nvPr/>
        </p:nvSpPr>
        <p:spPr>
          <a:xfrm>
            <a:off x="1771650" y="4867275"/>
            <a:ext cx="2743200" cy="1028700"/>
          </a:xfrm>
          <a:prstGeom prst="roundRect">
            <a:avLst>
              <a:gd name="adj" fmla="val 6481"/>
            </a:avLst>
          </a:prstGeom>
          <a:noFill/>
          <a:ln w="19050">
            <a:solidFill>
              <a:srgbClr val="DC262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"/>
          <p:cNvSpPr/>
          <p:nvPr/>
        </p:nvSpPr>
        <p:spPr>
          <a:xfrm>
            <a:off x="1143000" y="6191250"/>
            <a:ext cx="16002000" cy="247650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1371600" y="6419850"/>
            <a:ext cx="16002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资产状态联动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3124200" y="6457950"/>
            <a:ext cx="37719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提交报修即锁定资产，闭环结束自动释放</a:t>
            </a:r>
          </a:p>
        </p:txBody>
      </p:sp>
      <p:sp>
        <p:nvSpPr>
          <p:cNvPr id="41" name="Rectangle"/>
          <p:cNvSpPr/>
          <p:nvPr/>
        </p:nvSpPr>
        <p:spPr>
          <a:xfrm>
            <a:off x="1371600" y="6934200"/>
            <a:ext cx="1600200" cy="552450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"/>
          <p:cNvSpPr txBox="1"/>
          <p:nvPr/>
        </p:nvSpPr>
        <p:spPr>
          <a:xfrm>
            <a:off x="1485900" y="7048500"/>
            <a:ext cx="13716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提交报修成功</a:t>
            </a:r>
          </a:p>
        </p:txBody>
      </p:sp>
      <p:sp>
        <p:nvSpPr>
          <p:cNvPr id="43" name="Rectangle"/>
          <p:cNvSpPr/>
          <p:nvPr/>
        </p:nvSpPr>
        <p:spPr>
          <a:xfrm>
            <a:off x="1376363" y="6938963"/>
            <a:ext cx="1590675" cy="542925"/>
          </a:xfrm>
          <a:prstGeom prst="roundRect">
            <a:avLst>
              <a:gd name="adj" fmla="val 1315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4" name="Path"/>
          <p:cNvSpPr/>
          <p:nvPr/>
        </p:nvSpPr>
        <p:spPr>
          <a:xfrm>
            <a:off x="3114560" y="7200785"/>
            <a:ext cx="381230" cy="19280"/>
          </a:xfrm>
          <a:custGeom>
            <a:avLst/>
            <a:gdLst/>
            <a:ahLst/>
            <a:cxnLst/>
            <a:rect l="0" t="0" r="r" b="b"/>
            <a:pathLst>
              <a:path w="381230" h="19280">
                <a:moveTo>
                  <a:pt x="9640" y="115"/>
                </a:moveTo>
                <a:lnTo>
                  <a:pt x="371590" y="115"/>
                </a:lnTo>
                <a:quadBezTo>
                  <a:pt x="375583" y="0"/>
                  <a:pt x="378325" y="2905"/>
                </a:quadBezTo>
                <a:quadBezTo>
                  <a:pt x="381230" y="5647"/>
                  <a:pt x="381115" y="9640"/>
                </a:quadBezTo>
                <a:quadBezTo>
                  <a:pt x="381230" y="13633"/>
                  <a:pt x="378325" y="16375"/>
                </a:quadBezTo>
                <a:quadBezTo>
                  <a:pt x="375583" y="19280"/>
                  <a:pt x="371590" y="19165"/>
                </a:quadBezTo>
                <a:lnTo>
                  <a:pt x="9640" y="19165"/>
                </a:lnTo>
                <a:quadBezTo>
                  <a:pt x="5647" y="19280"/>
                  <a:pt x="2905" y="16375"/>
                </a:quadBezTo>
                <a:quadBezTo>
                  <a:pt x="0" y="13633"/>
                  <a:pt x="115" y="9640"/>
                </a:quadBez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Path"/>
          <p:cNvSpPr/>
          <p:nvPr/>
        </p:nvSpPr>
        <p:spPr>
          <a:xfrm>
            <a:off x="3437642" y="7133342"/>
            <a:ext cx="154166" cy="154166"/>
          </a:xfrm>
          <a:custGeom>
            <a:avLst/>
            <a:gdLst/>
            <a:ahLst/>
            <a:cxnLst/>
            <a:rect l="0" t="0" r="r" b="b"/>
            <a:pathLst>
              <a:path w="154166" h="154166">
                <a:moveTo>
                  <a:pt x="14668" y="1889"/>
                </a:moveTo>
                <a:lnTo>
                  <a:pt x="148018" y="68564"/>
                </a:lnTo>
                <a:quadBezTo>
                  <a:pt x="151640" y="70246"/>
                  <a:pt x="152794" y="74071"/>
                </a:quadBezTo>
                <a:quadBezTo>
                  <a:pt x="154166" y="77823"/>
                  <a:pt x="152277" y="81343"/>
                </a:quadBezTo>
                <a:quadBezTo>
                  <a:pt x="151589" y="82727"/>
                  <a:pt x="150493" y="83818"/>
                </a:quadBezTo>
                <a:quadBezTo>
                  <a:pt x="149402" y="84914"/>
                  <a:pt x="148018" y="85602"/>
                </a:quadBezTo>
                <a:lnTo>
                  <a:pt x="14668" y="152277"/>
                </a:lnTo>
                <a:quadBezTo>
                  <a:pt x="11148" y="154166"/>
                  <a:pt x="7396" y="152794"/>
                </a:quadBezTo>
                <a:quadBezTo>
                  <a:pt x="3571" y="151640"/>
                  <a:pt x="1889" y="148018"/>
                </a:quadBezTo>
                <a:quadBezTo>
                  <a:pt x="0" y="144498"/>
                  <a:pt x="1372" y="140746"/>
                </a:quadBezTo>
                <a:quadBezTo>
                  <a:pt x="2525" y="136921"/>
                  <a:pt x="6148" y="135239"/>
                </a:quadBezTo>
                <a:lnTo>
                  <a:pt x="122459" y="77083"/>
                </a:lnTo>
                <a:lnTo>
                  <a:pt x="6148" y="18927"/>
                </a:lnTo>
                <a:quadBezTo>
                  <a:pt x="2525" y="17244"/>
                  <a:pt x="1372" y="13420"/>
                </a:quadBezTo>
                <a:quadBezTo>
                  <a:pt x="0" y="9668"/>
                  <a:pt x="1889" y="6148"/>
                </a:quadBezTo>
                <a:quadBezTo>
                  <a:pt x="3571" y="2525"/>
                  <a:pt x="7396" y="1372"/>
                </a:quadBezTo>
                <a:quadBezTo>
                  <a:pt x="11148" y="0"/>
                  <a:pt x="14668" y="1889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"/>
          <p:cNvSpPr/>
          <p:nvPr/>
        </p:nvSpPr>
        <p:spPr>
          <a:xfrm>
            <a:off x="3771900" y="6934200"/>
            <a:ext cx="2286000" cy="552450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3886200" y="704850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资产置为「维修中」</a:t>
            </a:r>
          </a:p>
        </p:txBody>
      </p:sp>
      <p:sp>
        <p:nvSpPr>
          <p:cNvPr id="48" name="Rectangle"/>
          <p:cNvSpPr/>
          <p:nvPr/>
        </p:nvSpPr>
        <p:spPr>
          <a:xfrm>
            <a:off x="1371600" y="7639050"/>
            <a:ext cx="2905125" cy="552450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1485900" y="7753350"/>
            <a:ext cx="2670048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完成 / 拒绝 / 删除待审核单</a:t>
            </a:r>
          </a:p>
        </p:txBody>
      </p:sp>
      <p:sp>
        <p:nvSpPr>
          <p:cNvPr id="50" name="Rectangle"/>
          <p:cNvSpPr/>
          <p:nvPr/>
        </p:nvSpPr>
        <p:spPr>
          <a:xfrm>
            <a:off x="1376363" y="7643813"/>
            <a:ext cx="2895600" cy="542925"/>
          </a:xfrm>
          <a:prstGeom prst="roundRect">
            <a:avLst>
              <a:gd name="adj" fmla="val 1315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1" name="Path"/>
          <p:cNvSpPr/>
          <p:nvPr/>
        </p:nvSpPr>
        <p:spPr>
          <a:xfrm>
            <a:off x="4419485" y="7905635"/>
            <a:ext cx="381230" cy="19280"/>
          </a:xfrm>
          <a:custGeom>
            <a:avLst/>
            <a:gdLst/>
            <a:ahLst/>
            <a:cxnLst/>
            <a:rect l="0" t="0" r="r" b="b"/>
            <a:pathLst>
              <a:path w="381230" h="19280">
                <a:moveTo>
                  <a:pt x="9640" y="115"/>
                </a:moveTo>
                <a:lnTo>
                  <a:pt x="371590" y="115"/>
                </a:lnTo>
                <a:quadBezTo>
                  <a:pt x="375583" y="0"/>
                  <a:pt x="378325" y="2905"/>
                </a:quadBezTo>
                <a:quadBezTo>
                  <a:pt x="381230" y="5647"/>
                  <a:pt x="381115" y="9640"/>
                </a:quadBezTo>
                <a:quadBezTo>
                  <a:pt x="381230" y="13633"/>
                  <a:pt x="378325" y="16375"/>
                </a:quadBezTo>
                <a:quadBezTo>
                  <a:pt x="375583" y="19280"/>
                  <a:pt x="371590" y="19165"/>
                </a:quadBezTo>
                <a:lnTo>
                  <a:pt x="9640" y="19165"/>
                </a:lnTo>
                <a:quadBezTo>
                  <a:pt x="5647" y="19280"/>
                  <a:pt x="2905" y="16375"/>
                </a:quadBezTo>
                <a:quadBezTo>
                  <a:pt x="0" y="13633"/>
                  <a:pt x="115" y="9640"/>
                </a:quadBez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Path"/>
          <p:cNvSpPr/>
          <p:nvPr/>
        </p:nvSpPr>
        <p:spPr>
          <a:xfrm>
            <a:off x="4742567" y="7838192"/>
            <a:ext cx="154166" cy="154166"/>
          </a:xfrm>
          <a:custGeom>
            <a:avLst/>
            <a:gdLst/>
            <a:ahLst/>
            <a:cxnLst/>
            <a:rect l="0" t="0" r="r" b="b"/>
            <a:pathLst>
              <a:path w="154166" h="154166">
                <a:moveTo>
                  <a:pt x="14668" y="1889"/>
                </a:moveTo>
                <a:lnTo>
                  <a:pt x="148018" y="68564"/>
                </a:lnTo>
                <a:quadBezTo>
                  <a:pt x="151640" y="70246"/>
                  <a:pt x="152794" y="74071"/>
                </a:quadBezTo>
                <a:quadBezTo>
                  <a:pt x="154166" y="77823"/>
                  <a:pt x="152277" y="81343"/>
                </a:quadBezTo>
                <a:quadBezTo>
                  <a:pt x="151589" y="82727"/>
                  <a:pt x="150493" y="83818"/>
                </a:quadBezTo>
                <a:quadBezTo>
                  <a:pt x="149402" y="84914"/>
                  <a:pt x="148018" y="85602"/>
                </a:quadBezTo>
                <a:lnTo>
                  <a:pt x="14668" y="152277"/>
                </a:lnTo>
                <a:quadBezTo>
                  <a:pt x="11148" y="154166"/>
                  <a:pt x="7396" y="152794"/>
                </a:quadBezTo>
                <a:quadBezTo>
                  <a:pt x="3571" y="151640"/>
                  <a:pt x="1889" y="148018"/>
                </a:quadBezTo>
                <a:quadBezTo>
                  <a:pt x="0" y="144498"/>
                  <a:pt x="1372" y="140746"/>
                </a:quadBezTo>
                <a:quadBezTo>
                  <a:pt x="2525" y="136921"/>
                  <a:pt x="6148" y="135239"/>
                </a:quadBezTo>
                <a:lnTo>
                  <a:pt x="122459" y="77083"/>
                </a:lnTo>
                <a:lnTo>
                  <a:pt x="6148" y="18927"/>
                </a:lnTo>
                <a:quadBezTo>
                  <a:pt x="2525" y="17244"/>
                  <a:pt x="1372" y="13420"/>
                </a:quadBezTo>
                <a:quadBezTo>
                  <a:pt x="0" y="9668"/>
                  <a:pt x="1889" y="6148"/>
                </a:quadBezTo>
                <a:quadBezTo>
                  <a:pt x="3571" y="2525"/>
                  <a:pt x="7396" y="1372"/>
                </a:quadBezTo>
                <a:quadBezTo>
                  <a:pt x="11148" y="0"/>
                  <a:pt x="14668" y="1889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"/>
          <p:cNvSpPr/>
          <p:nvPr/>
        </p:nvSpPr>
        <p:spPr>
          <a:xfrm>
            <a:off x="5076825" y="7639050"/>
            <a:ext cx="2057400" cy="552450"/>
          </a:xfrm>
          <a:prstGeom prst="roundRect">
            <a:avLst>
              <a:gd name="adj" fmla="val 13793"/>
            </a:avLst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"/>
          <p:cNvSpPr txBox="1"/>
          <p:nvPr/>
        </p:nvSpPr>
        <p:spPr>
          <a:xfrm>
            <a:off x="5191125" y="7753350"/>
            <a:ext cx="1828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资产回到「正常」</a:t>
            </a:r>
          </a:p>
        </p:txBody>
      </p:sp>
      <p:sp>
        <p:nvSpPr>
          <p:cNvPr id="55" name="Rectangle"/>
          <p:cNvSpPr/>
          <p:nvPr/>
        </p:nvSpPr>
        <p:spPr>
          <a:xfrm>
            <a:off x="1147763" y="6196013"/>
            <a:ext cx="15992475" cy="2466975"/>
          </a:xfrm>
          <a:prstGeom prst="roundRect">
            <a:avLst>
              <a:gd name="adj" fmla="val 28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"/>
          <p:cNvSpPr txBox="1"/>
          <p:nvPr/>
        </p:nvSpPr>
        <p:spPr>
          <a:xfrm>
            <a:off x="1143000" y="9277350"/>
            <a:ext cx="61257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非法流转一律抛异常且数据库不变；传 null 或同状态视为普通更新</a:t>
            </a:r>
          </a:p>
        </p:txBody>
      </p:sp>
      <p:sp>
        <p:nvSpPr>
          <p:cNvPr id="58" name="TextBox"/>
          <p:cNvSpPr txBox="1"/>
          <p:nvPr/>
        </p:nvSpPr>
        <p:spPr>
          <a:xfrm>
            <a:off x="16503776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33214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设计取舍 · 我们主动做减法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115824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主动不做两件事：预约模块、状态模式重构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830077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范围不是越大越好 —— 每一条「不做」都有明确理由，答辩时主动说明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781050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09700" y="3314700"/>
            <a:ext cx="3834708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房间 / 设备预约与时段冲突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09700" y="3971925"/>
            <a:ext cx="32004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本期范围外，列为「后续迭代」</a:t>
            </a:r>
          </a:p>
        </p:txBody>
      </p:sp>
      <p:sp>
        <p:nvSpPr>
          <p:cNvPr id="9" name="Rectangle"/>
          <p:cNvSpPr/>
          <p:nvPr/>
        </p:nvSpPr>
        <p:spPr>
          <a:xfrm>
            <a:off x="1409700" y="4495800"/>
            <a:ext cx="7277100" cy="9525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409700" y="4695825"/>
            <a:ext cx="50673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评分表五个维度，没有一个与功能数量相关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409700" y="5276850"/>
            <a:ext cx="7205433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补一个模块要动表 + 后端 + 前端 + 菜单权限 + SQL —— 一整轮迭代的成本</a:t>
            </a:r>
          </a:p>
        </p:txBody>
      </p:sp>
      <p:sp>
        <p:nvSpPr>
          <p:cNvPr id="12" name="Rectangle"/>
          <p:cNvSpPr/>
          <p:nvPr/>
        </p:nvSpPr>
        <p:spPr>
          <a:xfrm>
            <a:off x="1147763" y="3052763"/>
            <a:ext cx="7800975" cy="3800475"/>
          </a:xfrm>
          <a:prstGeom prst="roundRect">
            <a:avLst>
              <a:gd name="adj" fmla="val 187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9334500" y="3048000"/>
            <a:ext cx="781050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9601200" y="3314700"/>
            <a:ext cx="356235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用状态模式重构报修流转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9601200" y="3971925"/>
            <a:ext cx="27432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主动判断：投入产出不划算</a:t>
            </a:r>
          </a:p>
        </p:txBody>
      </p:sp>
      <p:sp>
        <p:nvSpPr>
          <p:cNvPr id="16" name="Rectangle"/>
          <p:cNvSpPr/>
          <p:nvPr/>
        </p:nvSpPr>
        <p:spPr>
          <a:xfrm>
            <a:off x="9601200" y="4495800"/>
            <a:ext cx="7277100" cy="9525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9601200" y="4695825"/>
            <a:ext cx="6011952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现有 validateStatusChange 只有 3 个分支的 if-else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9601200" y="5276850"/>
            <a:ext cx="72009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引入状态模式属过度设计；讲「评估过、判断不划算」比堆模式更能得分</a:t>
            </a:r>
          </a:p>
        </p:txBody>
      </p:sp>
      <p:sp>
        <p:nvSpPr>
          <p:cNvPr id="19" name="Rectangle"/>
          <p:cNvSpPr/>
          <p:nvPr/>
        </p:nvSpPr>
        <p:spPr>
          <a:xfrm>
            <a:off x="9339263" y="3052763"/>
            <a:ext cx="7800975" cy="3800475"/>
          </a:xfrm>
          <a:prstGeom prst="roundRect">
            <a:avLst>
              <a:gd name="adj" fmla="val 187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1143000" y="7239000"/>
            <a:ext cx="16002000" cy="125730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447800" y="7467600"/>
            <a:ext cx="18865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同样明确不做的 5 项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447800" y="7867650"/>
            <a:ext cx="11290475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第三方支付与短信网关 · 小程序端 · 原生移动 App · 多校区 / 多租户隔离 · Selenium 端到端</a:t>
            </a:r>
          </a:p>
        </p:txBody>
      </p:sp>
      <p:sp>
        <p:nvSpPr>
          <p:cNvPr id="23" name="Rectangle"/>
          <p:cNvSpPr/>
          <p:nvPr/>
        </p:nvSpPr>
        <p:spPr>
          <a:xfrm>
            <a:off x="1147763" y="7243763"/>
            <a:ext cx="15992475" cy="1247775"/>
          </a:xfrm>
          <a:prstGeom prst="roundRect">
            <a:avLst>
              <a:gd name="adj" fmla="val 572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143000" y="9277350"/>
            <a:ext cx="58674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取舍的判断标准只有一个：能不能在任务书的评分维度上换到分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84088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AI 协作 · 一次双向纠错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987430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AI 关掉了一个我们一直没发现的缺陷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1340140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一次「查缺补漏」巡检 —— 只给了一句提示词，AI 交回两个真实缺陷；而它自己算错的一处数字，被测试当场兜住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7810500" cy="3276600"/>
          </a:xfrm>
          <a:prstGeom prst="roundRect">
            <a:avLst>
              <a:gd name="adj" fmla="val 232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09700" y="3314700"/>
            <a:ext cx="15039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AI 帮我们发现的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09700" y="3810000"/>
            <a:ext cx="4532928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首页看板对非超管角色返回 403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09700" y="4467225"/>
            <a:ext cx="723397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同一条权限散在四个技术层的五个位置，白名单不一致 —— 维修工程师、资产管理员这类角色看不到本该可见的看板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409700" y="5438775"/>
            <a:ext cx="7177716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0F766E"/>
                </a:solidFill>
                <a:latin typeface="Noto Sans SC Bold"/>
                <a:ea typeface="Noto Sans SC Bold"/>
                <a:cs typeface="Noto Sans SC Bold"/>
              </a:rPr>
              <a:t>处置 · 后端 LabRoleUtils 与前端常量对齐，SQL 末尾兜底补齐授权，登记为偏移 D-10</a:t>
            </a:r>
          </a:p>
        </p:txBody>
      </p:sp>
      <p:sp>
        <p:nvSpPr>
          <p:cNvPr id="11" name="Rectangle"/>
          <p:cNvSpPr/>
          <p:nvPr/>
        </p:nvSpPr>
        <p:spPr>
          <a:xfrm>
            <a:off x="1147763" y="3052763"/>
            <a:ext cx="7800975" cy="3267075"/>
          </a:xfrm>
          <a:prstGeom prst="roundRect">
            <a:avLst>
              <a:gd name="adj" fmla="val 2186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9334500" y="3048000"/>
            <a:ext cx="7810500" cy="3276600"/>
          </a:xfrm>
          <a:prstGeom prst="roundRect">
            <a:avLst>
              <a:gd name="adj" fmla="val 232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9601200" y="3314700"/>
            <a:ext cx="155129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B45309"/>
                </a:solidFill>
                <a:latin typeface="Noto Sans SC Bold"/>
                <a:ea typeface="Noto Sans SC Bold"/>
                <a:cs typeface="Noto Sans SC Bold"/>
              </a:rPr>
              <a:t>我们帮 AI 纠正的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9601200" y="3810000"/>
            <a:ext cx="4861636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非法流转断言：AI 写 11，实际 16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9601201" y="4467225"/>
            <a:ext cx="7265974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状态机共 5 个状态、有序对 25 组；AI 凭印象推定非法 11 组，正确推导是 25 − 5 组同状态幂等 − 4 组合法 = 16 组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9601199" y="5438775"/>
            <a:ext cx="7130147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0F766E"/>
                </a:solidFill>
                <a:latin typeface="Noto Sans SC Bold"/>
                <a:ea typeface="Noto Sans SC Bold"/>
                <a:cs typeface="Noto Sans SC Bold"/>
              </a:rPr>
              <a:t>处置 · 断言改为 16，测试立刻全绿 —— 若当初写成 assert checked &gt; 0，这个错误会一直躺在代码里</a:t>
            </a:r>
          </a:p>
        </p:txBody>
      </p:sp>
      <p:sp>
        <p:nvSpPr>
          <p:cNvPr id="17" name="Rectangle"/>
          <p:cNvSpPr/>
          <p:nvPr/>
        </p:nvSpPr>
        <p:spPr>
          <a:xfrm>
            <a:off x="9339263" y="3052763"/>
            <a:ext cx="7800975" cy="3267075"/>
          </a:xfrm>
          <a:prstGeom prst="roundRect">
            <a:avLst>
              <a:gd name="adj" fmla="val 2186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143000" y="7143750"/>
            <a:ext cx="569535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这条权限要在 5 个位置说同一句话 —— 五处分布在四个技术层</a:t>
            </a:r>
          </a:p>
        </p:txBody>
      </p:sp>
      <p:sp>
        <p:nvSpPr>
          <p:cNvPr id="19" name="Rectangle"/>
          <p:cNvSpPr/>
          <p:nvPr/>
        </p:nvSpPr>
        <p:spPr>
          <a:xfrm>
            <a:off x="1143000" y="7524750"/>
            <a:ext cx="29718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932013" y="7810500"/>
            <a:ext cx="139377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① 接口注解</a:t>
            </a:r>
          </a:p>
        </p:txBody>
      </p:sp>
      <p:sp>
        <p:nvSpPr>
          <p:cNvPr id="21" name="Rectangle"/>
          <p:cNvSpPr/>
          <p:nvPr/>
        </p:nvSpPr>
        <p:spPr>
          <a:xfrm>
            <a:off x="1147763" y="7529513"/>
            <a:ext cx="2962275" cy="942975"/>
          </a:xfrm>
          <a:prstGeom prst="roundRect">
            <a:avLst>
              <a:gd name="adj" fmla="val 757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4343400" y="7524750"/>
            <a:ext cx="29718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5132413" y="7810500"/>
            <a:ext cx="139377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② 菜单权限</a:t>
            </a:r>
          </a:p>
        </p:txBody>
      </p:sp>
      <p:sp>
        <p:nvSpPr>
          <p:cNvPr id="24" name="Rectangle"/>
          <p:cNvSpPr/>
          <p:nvPr/>
        </p:nvSpPr>
        <p:spPr>
          <a:xfrm>
            <a:off x="4348163" y="7529513"/>
            <a:ext cx="2962275" cy="942975"/>
          </a:xfrm>
          <a:prstGeom prst="roundRect">
            <a:avLst>
              <a:gd name="adj" fmla="val 757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7543800" y="7524750"/>
            <a:ext cx="29718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8332813" y="7810500"/>
            <a:ext cx="139377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③ 角色授予</a:t>
            </a:r>
          </a:p>
        </p:txBody>
      </p:sp>
      <p:sp>
        <p:nvSpPr>
          <p:cNvPr id="27" name="Rectangle"/>
          <p:cNvSpPr/>
          <p:nvPr/>
        </p:nvSpPr>
        <p:spPr>
          <a:xfrm>
            <a:off x="7548563" y="7529513"/>
            <a:ext cx="2962275" cy="942975"/>
          </a:xfrm>
          <a:prstGeom prst="roundRect">
            <a:avLst>
              <a:gd name="adj" fmla="val 757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"/>
          <p:cNvSpPr/>
          <p:nvPr/>
        </p:nvSpPr>
        <p:spPr>
          <a:xfrm>
            <a:off x="10744200" y="7524750"/>
            <a:ext cx="29718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11533212" y="7810500"/>
            <a:ext cx="139377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④ 前端指令</a:t>
            </a:r>
          </a:p>
        </p:txBody>
      </p:sp>
      <p:sp>
        <p:nvSpPr>
          <p:cNvPr id="30" name="Rectangle"/>
          <p:cNvSpPr/>
          <p:nvPr/>
        </p:nvSpPr>
        <p:spPr>
          <a:xfrm>
            <a:off x="10748963" y="7529513"/>
            <a:ext cx="2962275" cy="942975"/>
          </a:xfrm>
          <a:prstGeom prst="roundRect">
            <a:avLst>
              <a:gd name="adj" fmla="val 757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"/>
          <p:cNvSpPr/>
          <p:nvPr/>
        </p:nvSpPr>
        <p:spPr>
          <a:xfrm>
            <a:off x="13944600" y="7524750"/>
            <a:ext cx="29718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14733612" y="7810500"/>
            <a:ext cx="139377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⑤ 行级过滤</a:t>
            </a:r>
          </a:p>
        </p:txBody>
      </p:sp>
      <p:sp>
        <p:nvSpPr>
          <p:cNvPr id="33" name="Rectangle"/>
          <p:cNvSpPr/>
          <p:nvPr/>
        </p:nvSpPr>
        <p:spPr>
          <a:xfrm>
            <a:off x="13949363" y="7529513"/>
            <a:ext cx="2962275" cy="942975"/>
          </a:xfrm>
          <a:prstGeom prst="roundRect">
            <a:avLst>
              <a:gd name="adj" fmla="val 757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1143000" y="9277350"/>
            <a:ext cx="968142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AI 的自检结论同样需要被怀疑 —— 那次「前端构建 12ms 失败」最终查明是调用姿势错误，不是代码缺陷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5213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质量保障 · 测试分层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79248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把业务规则写成可断言的测试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865654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49 个用例全部通过 —— 六条业务规则每一条都能指到一个具体的断言对象</a:t>
            </a:r>
          </a:p>
        </p:txBody>
      </p:sp>
      <p:sp>
        <p:nvSpPr>
          <p:cNvPr id="6" name="Rectangle"/>
          <p:cNvSpPr/>
          <p:nvPr/>
        </p:nvSpPr>
        <p:spPr>
          <a:xfrm>
            <a:off x="2857500" y="3048000"/>
            <a:ext cx="3810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3567608" y="3305175"/>
            <a:ext cx="2389784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端到端实测 · 不写脚本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3993766" y="3714750"/>
            <a:ext cx="15374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73 条接口 0 失败</a:t>
            </a:r>
          </a:p>
        </p:txBody>
      </p:sp>
      <p:sp>
        <p:nvSpPr>
          <p:cNvPr id="9" name="Rectangle"/>
          <p:cNvSpPr/>
          <p:nvPr/>
        </p:nvSpPr>
        <p:spPr>
          <a:xfrm>
            <a:off x="2862263" y="3052763"/>
            <a:ext cx="3800475" cy="1209675"/>
          </a:xfrm>
          <a:prstGeom prst="roundRect">
            <a:avLst>
              <a:gd name="adj" fmla="val 590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2000250" y="4381500"/>
            <a:ext cx="5524500" cy="121920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4004234" y="4638675"/>
            <a:ext cx="151653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集成测试 16 个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3614690" y="5048250"/>
            <a:ext cx="22956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H2 内存库 · 验落库结果</a:t>
            </a:r>
          </a:p>
        </p:txBody>
      </p:sp>
      <p:sp>
        <p:nvSpPr>
          <p:cNvPr id="13" name="Rectangle"/>
          <p:cNvSpPr/>
          <p:nvPr/>
        </p:nvSpPr>
        <p:spPr>
          <a:xfrm>
            <a:off x="2005013" y="4386263"/>
            <a:ext cx="5514975" cy="1209675"/>
          </a:xfrm>
          <a:prstGeom prst="roundRect">
            <a:avLst>
              <a:gd name="adj" fmla="val 5905"/>
            </a:avLst>
          </a:prstGeom>
          <a:noFill/>
          <a:ln w="9525">
            <a:solidFill>
              <a:srgbClr val="2563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1143000" y="5715000"/>
            <a:ext cx="7239000" cy="1219200"/>
          </a:xfrm>
          <a:prstGeom prst="roundRect">
            <a:avLst>
              <a:gd name="adj" fmla="val 625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4004234" y="5972175"/>
            <a:ext cx="151653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单元测试 33 个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3464128" y="6381750"/>
            <a:ext cx="25967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Mockito 隔离 · 验调用契约</a:t>
            </a:r>
          </a:p>
        </p:txBody>
      </p:sp>
      <p:sp>
        <p:nvSpPr>
          <p:cNvPr id="17" name="Rectangle"/>
          <p:cNvSpPr/>
          <p:nvPr/>
        </p:nvSpPr>
        <p:spPr>
          <a:xfrm>
            <a:off x="8763000" y="3048000"/>
            <a:ext cx="8382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8991601" y="3238500"/>
            <a:ext cx="26093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顶 · 为什么不写自动化脚本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8991600" y="3638550"/>
            <a:ext cx="4923816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现场跑真实环境，权限注解由 UI 巡检实测</a:t>
            </a:r>
          </a:p>
        </p:txBody>
      </p:sp>
      <p:sp>
        <p:nvSpPr>
          <p:cNvPr id="20" name="Rectangle"/>
          <p:cNvSpPr/>
          <p:nvPr/>
        </p:nvSpPr>
        <p:spPr>
          <a:xfrm>
            <a:off x="8767763" y="3052763"/>
            <a:ext cx="8372475" cy="1209675"/>
          </a:xfrm>
          <a:prstGeom prst="roundRect">
            <a:avLst>
              <a:gd name="adj" fmla="val 590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8763000" y="4381500"/>
            <a:ext cx="8382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8991600" y="4572000"/>
            <a:ext cx="23184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中 · 为什么集成要 16 条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8991601" y="4972050"/>
            <a:ext cx="646187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跨表事务、SQL 与表结构是否对得上 —— 单测发现不了</a:t>
            </a:r>
          </a:p>
        </p:txBody>
      </p:sp>
      <p:sp>
        <p:nvSpPr>
          <p:cNvPr id="24" name="Rectangle"/>
          <p:cNvSpPr/>
          <p:nvPr/>
        </p:nvSpPr>
        <p:spPr>
          <a:xfrm>
            <a:off x="8767763" y="4386263"/>
            <a:ext cx="8372475" cy="1209675"/>
          </a:xfrm>
          <a:prstGeom prst="roundRect">
            <a:avLst>
              <a:gd name="adj" fmla="val 590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8763000" y="5715000"/>
            <a:ext cx="8382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8991601" y="5905500"/>
            <a:ext cx="19806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底 · 为什么单元最多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8991601" y="6305550"/>
            <a:ext cx="6092762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业务规则集中在 Service 层，分支与边界在这里穷举</a:t>
            </a:r>
          </a:p>
        </p:txBody>
      </p:sp>
      <p:sp>
        <p:nvSpPr>
          <p:cNvPr id="28" name="Rectangle"/>
          <p:cNvSpPr/>
          <p:nvPr/>
        </p:nvSpPr>
        <p:spPr>
          <a:xfrm>
            <a:off x="8767763" y="5719763"/>
            <a:ext cx="8372475" cy="1209675"/>
          </a:xfrm>
          <a:prstGeom prst="roundRect">
            <a:avLst>
              <a:gd name="adj" fmla="val 590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"/>
          <p:cNvSpPr/>
          <p:nvPr/>
        </p:nvSpPr>
        <p:spPr>
          <a:xfrm>
            <a:off x="1143000" y="7334250"/>
            <a:ext cx="16002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1447800" y="760095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B45309"/>
                </a:solidFill>
                <a:latin typeface="Noto Sans SC Bold"/>
                <a:ea typeface="Noto Sans SC Bold"/>
                <a:cs typeface="Noto Sans SC Bold"/>
              </a:rPr>
              <a:t>如实说明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447800" y="8020050"/>
            <a:ext cx="11510238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覆盖率百分比出不来 —— 本机离线仓库缺 JaCoCo 插件，改用「用例与业务规则」追溯矩阵作证据</a:t>
            </a:r>
          </a:p>
        </p:txBody>
      </p:sp>
      <p:sp>
        <p:nvSpPr>
          <p:cNvPr id="32" name="Rectangle"/>
          <p:cNvSpPr/>
          <p:nvPr/>
        </p:nvSpPr>
        <p:spPr>
          <a:xfrm>
            <a:off x="1147763" y="7339013"/>
            <a:ext cx="15992475" cy="1514475"/>
          </a:xfrm>
          <a:prstGeom prst="roundRect">
            <a:avLst>
              <a:gd name="adj" fmla="val 4716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1143000" y="9277350"/>
            <a:ext cx="7591158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177 条断言 + 27 次交互校验，含「非法流转时一次写库都没发生」这类否定式契约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844889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交付链路 · CI 与容器化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1063142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从提交到上线，本地和 CI 跑同一套脚本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8661615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六段等价流水线，与 GitHub Actions 的 job 一一对应 —— 换环境不换命令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699270" y="3343275"/>
            <a:ext cx="13639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[1/6] 版本信息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844497" y="3762375"/>
            <a:ext cx="1073506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15803D"/>
                </a:solidFill>
                <a:latin typeface="Noto Sans SC Bold"/>
                <a:ea typeface="Noto Sans SC Bold"/>
                <a:cs typeface="Noto Sans SC Bold"/>
              </a:rPr>
              <a:t>PASS 3.5s</a:t>
            </a:r>
          </a:p>
        </p:txBody>
      </p:sp>
      <p:sp>
        <p:nvSpPr>
          <p:cNvPr id="9" name="Rectangle"/>
          <p:cNvSpPr/>
          <p:nvPr/>
        </p:nvSpPr>
        <p:spPr>
          <a:xfrm>
            <a:off x="1147763" y="3052763"/>
            <a:ext cx="2466975" cy="1323975"/>
          </a:xfrm>
          <a:prstGeom prst="roundRect">
            <a:avLst>
              <a:gd name="adj" fmla="val 53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3848100" y="304800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4404370" y="3343275"/>
            <a:ext cx="13639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[2/6] 后端测试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4414723" y="3762375"/>
            <a:ext cx="1343254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15803D"/>
                </a:solidFill>
                <a:latin typeface="Noto Sans SC Bold"/>
                <a:ea typeface="Noto Sans SC Bold"/>
                <a:cs typeface="Noto Sans SC Bold"/>
              </a:rPr>
              <a:t>PASS 111.6s</a:t>
            </a:r>
          </a:p>
        </p:txBody>
      </p:sp>
      <p:sp>
        <p:nvSpPr>
          <p:cNvPr id="13" name="Rectangle"/>
          <p:cNvSpPr/>
          <p:nvPr/>
        </p:nvSpPr>
        <p:spPr>
          <a:xfrm>
            <a:off x="3852863" y="3052763"/>
            <a:ext cx="2466975" cy="1323975"/>
          </a:xfrm>
          <a:prstGeom prst="roundRect">
            <a:avLst>
              <a:gd name="adj" fmla="val 53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6553200" y="304800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7109470" y="3343275"/>
            <a:ext cx="13639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[3/6] 前端构建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7187260" y="3762375"/>
            <a:ext cx="120838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15803D"/>
                </a:solidFill>
                <a:latin typeface="Noto Sans SC Bold"/>
                <a:ea typeface="Noto Sans SC Bold"/>
                <a:cs typeface="Noto Sans SC Bold"/>
              </a:rPr>
              <a:t>PASS 49.5s</a:t>
            </a:r>
          </a:p>
        </p:txBody>
      </p:sp>
      <p:sp>
        <p:nvSpPr>
          <p:cNvPr id="17" name="Rectangle"/>
          <p:cNvSpPr/>
          <p:nvPr/>
        </p:nvSpPr>
        <p:spPr>
          <a:xfrm>
            <a:off x="6557963" y="3052763"/>
            <a:ext cx="2466975" cy="1323975"/>
          </a:xfrm>
          <a:prstGeom prst="roundRect">
            <a:avLst>
              <a:gd name="adj" fmla="val 53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9258300" y="304800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9814570" y="3343275"/>
            <a:ext cx="13639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[4/6] 打包产物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9996944" y="3762375"/>
            <a:ext cx="999211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15803D"/>
                </a:solidFill>
                <a:latin typeface="Noto Sans SC Bold"/>
                <a:ea typeface="Noto Sans SC Bold"/>
                <a:cs typeface="Noto Sans SC Bold"/>
              </a:rPr>
              <a:t>PASS 49s</a:t>
            </a:r>
          </a:p>
        </p:txBody>
      </p:sp>
      <p:sp>
        <p:nvSpPr>
          <p:cNvPr id="21" name="Rectangle"/>
          <p:cNvSpPr/>
          <p:nvPr/>
        </p:nvSpPr>
        <p:spPr>
          <a:xfrm>
            <a:off x="9263063" y="3052763"/>
            <a:ext cx="2466975" cy="1323975"/>
          </a:xfrm>
          <a:prstGeom prst="roundRect">
            <a:avLst>
              <a:gd name="adj" fmla="val 53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11963400" y="304800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12519670" y="3343275"/>
            <a:ext cx="13639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[5/6] 镜像构建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12683414" y="3762375"/>
            <a:ext cx="103647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64748B"/>
                </a:solidFill>
                <a:latin typeface="Noto Sans SC Bold"/>
                <a:ea typeface="Noto Sans SC Bold"/>
                <a:cs typeface="Noto Sans SC Bold"/>
              </a:rPr>
              <a:t>SKIP 0.1s</a:t>
            </a:r>
          </a:p>
        </p:txBody>
      </p:sp>
      <p:sp>
        <p:nvSpPr>
          <p:cNvPr id="25" name="Rectangle"/>
          <p:cNvSpPr/>
          <p:nvPr/>
        </p:nvSpPr>
        <p:spPr>
          <a:xfrm>
            <a:off x="11968163" y="3052763"/>
            <a:ext cx="2466975" cy="1323975"/>
          </a:xfrm>
          <a:prstGeom prst="roundRect">
            <a:avLst>
              <a:gd name="adj" fmla="val 53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4668500" y="304800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15224770" y="3343275"/>
            <a:ext cx="13639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[6/6] 冒烟测试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5388514" y="3762375"/>
            <a:ext cx="103647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64748B"/>
                </a:solidFill>
                <a:latin typeface="Noto Sans SC Bold"/>
                <a:ea typeface="Noto Sans SC Bold"/>
                <a:cs typeface="Noto Sans SC Bold"/>
              </a:rPr>
              <a:t>SKIP 2.5s</a:t>
            </a:r>
          </a:p>
        </p:txBody>
      </p:sp>
      <p:sp>
        <p:nvSpPr>
          <p:cNvPr id="29" name="Rectangle"/>
          <p:cNvSpPr/>
          <p:nvPr/>
        </p:nvSpPr>
        <p:spPr>
          <a:xfrm>
            <a:off x="14673263" y="3052763"/>
            <a:ext cx="2466975" cy="1323975"/>
          </a:xfrm>
          <a:prstGeom prst="roundRect">
            <a:avLst>
              <a:gd name="adj" fmla="val 53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1143000" y="476250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409700" y="49911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本地开发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409700" y="5410200"/>
            <a:ext cx="3046781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直连本机 MySQL 与 Redis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409700" y="5915025"/>
            <a:ext cx="2724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改端口或库名即可，不动代码</a:t>
            </a:r>
          </a:p>
        </p:txBody>
      </p:sp>
      <p:sp>
        <p:nvSpPr>
          <p:cNvPr id="34" name="Rectangle"/>
          <p:cNvSpPr/>
          <p:nvPr/>
        </p:nvSpPr>
        <p:spPr>
          <a:xfrm>
            <a:off x="1147763" y="476726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6591300" y="476250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6858000" y="4991100"/>
            <a:ext cx="879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CI 流水线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6858000" y="5410200"/>
            <a:ext cx="3395358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跑 H2 内存库，零中间件依赖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6858000" y="5915025"/>
            <a:ext cx="2305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与本地跑同一份测试命令</a:t>
            </a:r>
          </a:p>
        </p:txBody>
      </p:sp>
      <p:sp>
        <p:nvSpPr>
          <p:cNvPr id="39" name="Rectangle"/>
          <p:cNvSpPr/>
          <p:nvPr/>
        </p:nvSpPr>
        <p:spPr>
          <a:xfrm>
            <a:off x="6596063" y="476726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"/>
          <p:cNvSpPr/>
          <p:nvPr/>
        </p:nvSpPr>
        <p:spPr>
          <a:xfrm>
            <a:off x="12039600" y="476250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12306300" y="49911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容器编排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12306300" y="5410200"/>
            <a:ext cx="37338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四个服务同起，配置走环境变量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12306300" y="5915025"/>
            <a:ext cx="24745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application.yml 一字未改</a:t>
            </a:r>
          </a:p>
        </p:txBody>
      </p:sp>
      <p:sp>
        <p:nvSpPr>
          <p:cNvPr id="44" name="Rectangle"/>
          <p:cNvSpPr/>
          <p:nvPr/>
        </p:nvSpPr>
        <p:spPr>
          <a:xfrm>
            <a:off x="12044363" y="476726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2563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"/>
          <p:cNvSpPr/>
          <p:nvPr/>
        </p:nvSpPr>
        <p:spPr>
          <a:xfrm>
            <a:off x="1143000" y="6762750"/>
            <a:ext cx="160020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"/>
          <p:cNvSpPr txBox="1"/>
          <p:nvPr/>
        </p:nvSpPr>
        <p:spPr>
          <a:xfrm>
            <a:off x="1447800" y="7029450"/>
            <a:ext cx="19806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B45309"/>
                </a:solidFill>
                <a:latin typeface="Noto Sans SC Bold"/>
                <a:ea typeface="Noto Sans SC Bold"/>
                <a:cs typeface="Noto Sans SC Bold"/>
              </a:rPr>
              <a:t>本机限制 · 如实说明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1447800" y="7448550"/>
            <a:ext cx="10024985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本机未安装 Docker，第 5、6 段恒为 SKIPPED —— 脚本保证 SKIPPED 不伪装成 PASS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1447800" y="7953375"/>
            <a:ext cx="62175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替代证据：94 条配置静态断言 + 23 条环境变量绑定实证，两组全绿</a:t>
            </a:r>
          </a:p>
        </p:txBody>
      </p:sp>
      <p:sp>
        <p:nvSpPr>
          <p:cNvPr id="49" name="Rectangle"/>
          <p:cNvSpPr/>
          <p:nvPr/>
        </p:nvSpPr>
        <p:spPr>
          <a:xfrm>
            <a:off x="1147763" y="6767513"/>
            <a:ext cx="15992475" cy="1666875"/>
          </a:xfrm>
          <a:prstGeom prst="roundRect">
            <a:avLst>
              <a:gd name="adj" fmla="val 428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"/>
          <p:cNvSpPr txBox="1"/>
          <p:nvPr/>
        </p:nvSpPr>
        <p:spPr>
          <a:xfrm>
            <a:off x="1143000" y="9277350"/>
            <a:ext cx="878266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提交 1668e4a 实测 PASS 4 / SKIPPED 2 / FAIL 0，总耗时 216.2 秒；流水线不含任何硬编码凭据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5213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现场演示 · 三步闭环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三步走完一次报修闭环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830077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从提交到评价，资产状态全程由工单驱动 —— 演示动作与截图一一对应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5105400" cy="447675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28750" y="3333750"/>
            <a:ext cx="21902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第一步 · 首页就是结论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28750" y="3771900"/>
            <a:ext cx="2315223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① 登录 → 首页看板</a:t>
            </a:r>
          </a:p>
        </p:txBody>
      </p:sp>
      <p:pic>
        <p:nvPicPr>
          <p:cNvPr id="9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4295775"/>
            <a:ext cx="4533900" cy="2609850"/>
          </a:xfrm>
          <a:prstGeom prst="rect">
            <a:avLst/>
          </a:prstGeom>
        </p:spPr>
      </p:pic>
      <p:sp>
        <p:nvSpPr>
          <p:cNvPr id="10" name="Rectangle"/>
          <p:cNvSpPr/>
          <p:nvPr/>
        </p:nvSpPr>
        <p:spPr>
          <a:xfrm>
            <a:off x="1433513" y="4300538"/>
            <a:ext cx="4524375" cy="2600325"/>
          </a:xfrm>
          <a:prstGeom prst="roundRect">
            <a:avLst>
              <a:gd name="adj" fmla="val 2014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1428750" y="7038975"/>
            <a:ext cx="34709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4 个指标卡 + 4 张图；维修中资产 2 台</a:t>
            </a:r>
          </a:p>
        </p:txBody>
      </p:sp>
      <p:sp>
        <p:nvSpPr>
          <p:cNvPr id="12" name="Rectangle"/>
          <p:cNvSpPr/>
          <p:nvPr/>
        </p:nvSpPr>
        <p:spPr>
          <a:xfrm>
            <a:off x="1147763" y="3052763"/>
            <a:ext cx="5095875" cy="4467225"/>
          </a:xfrm>
          <a:prstGeom prst="roundRect">
            <a:avLst>
              <a:gd name="adj" fmla="val 159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6591300" y="3048000"/>
            <a:ext cx="5105400" cy="447675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6877050" y="3333750"/>
            <a:ext cx="23997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第二步 · 提报即联动资产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877050" y="3771900"/>
            <a:ext cx="2315223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② 资产台账 → 报修</a:t>
            </a:r>
          </a:p>
        </p:txBody>
      </p:sp>
      <p:pic>
        <p:nvPicPr>
          <p:cNvPr id="16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050" y="4295775"/>
            <a:ext cx="4533900" cy="2609850"/>
          </a:xfrm>
          <a:prstGeom prst="rect">
            <a:avLst/>
          </a:prstGeom>
        </p:spPr>
      </p:pic>
      <p:sp>
        <p:nvSpPr>
          <p:cNvPr id="17" name="Rectangle"/>
          <p:cNvSpPr/>
          <p:nvPr/>
        </p:nvSpPr>
        <p:spPr>
          <a:xfrm>
            <a:off x="6881813" y="4300538"/>
            <a:ext cx="4524375" cy="2600325"/>
          </a:xfrm>
          <a:prstGeom prst="roundRect">
            <a:avLst>
              <a:gd name="adj" fmla="val 2014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6877050" y="7038975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提交报修后，资产自动置「维修中」</a:t>
            </a:r>
          </a:p>
        </p:txBody>
      </p:sp>
      <p:sp>
        <p:nvSpPr>
          <p:cNvPr id="19" name="Rectangle"/>
          <p:cNvSpPr/>
          <p:nvPr/>
        </p:nvSpPr>
        <p:spPr>
          <a:xfrm>
            <a:off x="6596063" y="3052763"/>
            <a:ext cx="5095875" cy="4467225"/>
          </a:xfrm>
          <a:prstGeom prst="roundRect">
            <a:avLst>
              <a:gd name="adj" fmla="val 159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12039600" y="3048000"/>
            <a:ext cx="5105400" cy="447675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2325350" y="3333750"/>
            <a:ext cx="17711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第三步 · 闭环走完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2325350" y="3771900"/>
            <a:ext cx="2703005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③ 审核 → 完成 → 评价</a:t>
            </a:r>
          </a:p>
        </p:txBody>
      </p:sp>
      <p:pic>
        <p:nvPicPr>
          <p:cNvPr id="23" name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5350" y="4295775"/>
            <a:ext cx="4533900" cy="2609850"/>
          </a:xfrm>
          <a:prstGeom prst="rect">
            <a:avLst/>
          </a:prstGeom>
        </p:spPr>
      </p:pic>
      <p:sp>
        <p:nvSpPr>
          <p:cNvPr id="24" name="Rectangle"/>
          <p:cNvSpPr/>
          <p:nvPr/>
        </p:nvSpPr>
        <p:spPr>
          <a:xfrm>
            <a:off x="12330113" y="4300538"/>
            <a:ext cx="4524375" cy="2600325"/>
          </a:xfrm>
          <a:prstGeom prst="roundRect">
            <a:avLst>
              <a:gd name="adj" fmla="val 2014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2325350" y="7038975"/>
            <a:ext cx="42840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状态机 0→1→2→3，完成后资产回到「正常」</a:t>
            </a:r>
          </a:p>
        </p:txBody>
      </p:sp>
      <p:sp>
        <p:nvSpPr>
          <p:cNvPr id="26" name="Rectangle"/>
          <p:cNvSpPr/>
          <p:nvPr/>
        </p:nvSpPr>
        <p:spPr>
          <a:xfrm>
            <a:off x="12044363" y="3052763"/>
            <a:ext cx="5095875" cy="4467225"/>
          </a:xfrm>
          <a:prstGeom prst="roundRect">
            <a:avLst>
              <a:gd name="adj" fmla="val 159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1143000" y="7905750"/>
            <a:ext cx="16002000" cy="91440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1447800" y="8172450"/>
            <a:ext cx="12212459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演示账号 labadmin ／ 口令 admin123 —— 与 README、种子脚本三处口径已统一，现场登录不会翻车</a:t>
            </a:r>
          </a:p>
        </p:txBody>
      </p:sp>
      <p:sp>
        <p:nvSpPr>
          <p:cNvPr id="29" name="Rectangle"/>
          <p:cNvSpPr/>
          <p:nvPr/>
        </p:nvSpPr>
        <p:spPr>
          <a:xfrm>
            <a:off x="1147763" y="7910513"/>
            <a:ext cx="15992475" cy="904875"/>
          </a:xfrm>
          <a:prstGeom prst="roundRect">
            <a:avLst>
              <a:gd name="adj" fmla="val 7894"/>
            </a:avLst>
          </a:prstGeom>
          <a:noFill/>
          <a:ln w="9525">
            <a:solidFill>
              <a:srgbClr val="2563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143000" y="9277350"/>
            <a:ext cx="72223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截图位待 T6-01 重拍完成后替换 —— 现场演示的画面必须与 PPT 里的截图一致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30547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提问备份 · 权限与可见性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79248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同一条权限，只能有一处口径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10404767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角色白名单要在三处保持一致 —— 漏掉任意一处，就会出现「按钮看得到、接口却 403」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5105400" cy="28575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09700" y="3314700"/>
            <a:ext cx="22746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① 后端 · LabRoleUtils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09700" y="3810000"/>
            <a:ext cx="323850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两套白名单的唯一真源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09700" y="4467225"/>
            <a:ext cx="4492562" cy="1171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canHandleRepair 与 canViewAll 两个方法；控制器与 Service 全部调它，不在别处复制判断</a:t>
            </a:r>
            <a:br>
              <a:rPr lang="en-US" sz="2100">
                <a:latin typeface="Noto Sans SC"/>
                <a:ea typeface="Noto Sans SC"/>
                <a:cs typeface="Noto Sans SC"/>
              </a:rPr>
            </a:br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/>
            </a:r>
          </a:p>
        </p:txBody>
      </p:sp>
      <p:sp>
        <p:nvSpPr>
          <p:cNvPr id="10" name="Rectangle"/>
          <p:cNvSpPr/>
          <p:nvPr/>
        </p:nvSpPr>
        <p:spPr>
          <a:xfrm>
            <a:off x="1147763" y="3052763"/>
            <a:ext cx="5095875" cy="2847975"/>
          </a:xfrm>
          <a:prstGeom prst="roundRect">
            <a:avLst>
              <a:gd name="adj" fmla="val 2508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6591300" y="3048000"/>
            <a:ext cx="5105400" cy="28575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6858000" y="3314700"/>
            <a:ext cx="26663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② 前端 · labPermission.js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858000" y="3810000"/>
            <a:ext cx="323850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同名常量照抄后端口径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6858000" y="4467225"/>
            <a:ext cx="4533900" cy="1171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两个常量与后端同名同义，文件注释里写明「必须与后端保持一致」，改一处要同步改另一处</a:t>
            </a:r>
          </a:p>
        </p:txBody>
      </p:sp>
      <p:sp>
        <p:nvSpPr>
          <p:cNvPr id="15" name="Rectangle"/>
          <p:cNvSpPr/>
          <p:nvPr/>
        </p:nvSpPr>
        <p:spPr>
          <a:xfrm>
            <a:off x="6596063" y="3052763"/>
            <a:ext cx="5095875" cy="2847975"/>
          </a:xfrm>
          <a:prstGeom prst="roundRect">
            <a:avLst>
              <a:gd name="adj" fmla="val 2508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12039600" y="3048000"/>
            <a:ext cx="5105400" cy="28575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12306300" y="3314700"/>
            <a:ext cx="24708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DC2626"/>
                </a:solidFill>
                <a:latin typeface="Noto Sans SC Bold"/>
                <a:ea typeface="Noto Sans SC Bold"/>
                <a:cs typeface="Noto Sans SC Bold"/>
              </a:rPr>
              <a:t>③ SQL · permission_fix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2306300" y="3810000"/>
            <a:ext cx="356235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末尾按角色清单兜底授权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2306300" y="4467225"/>
            <a:ext cx="4533900" cy="1171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菜单授权脚本里少了看板权限，非超管角色首页空白 —— 偏移 D-10 漏掉的正是这一处</a:t>
            </a:r>
          </a:p>
        </p:txBody>
      </p:sp>
      <p:sp>
        <p:nvSpPr>
          <p:cNvPr id="20" name="Rectangle"/>
          <p:cNvSpPr/>
          <p:nvPr/>
        </p:nvSpPr>
        <p:spPr>
          <a:xfrm>
            <a:off x="12044363" y="3052763"/>
            <a:ext cx="5095875" cy="2847975"/>
          </a:xfrm>
          <a:prstGeom prst="roundRect">
            <a:avLst>
              <a:gd name="adj" fmla="val 2508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1143000" y="6286500"/>
            <a:ext cx="16002000" cy="241935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447800" y="6705600"/>
            <a:ext cx="17713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可处理报修 · 4 / 8</a:t>
            </a:r>
          </a:p>
        </p:txBody>
      </p:sp>
      <p:sp>
        <p:nvSpPr>
          <p:cNvPr id="23" name="Rectangle"/>
          <p:cNvSpPr/>
          <p:nvPr/>
        </p:nvSpPr>
        <p:spPr>
          <a:xfrm>
            <a:off x="4457700" y="6591300"/>
            <a:ext cx="1095375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4648200" y="6686550"/>
            <a:ext cx="708889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admin</a:t>
            </a:r>
          </a:p>
        </p:txBody>
      </p:sp>
      <p:sp>
        <p:nvSpPr>
          <p:cNvPr id="25" name="Rectangle"/>
          <p:cNvSpPr/>
          <p:nvPr/>
        </p:nvSpPr>
        <p:spPr>
          <a:xfrm>
            <a:off x="5705475" y="6591300"/>
            <a:ext cx="1228725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5895975" y="6686550"/>
            <a:ext cx="83896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teacher</a:t>
            </a:r>
          </a:p>
        </p:txBody>
      </p:sp>
      <p:sp>
        <p:nvSpPr>
          <p:cNvPr id="27" name="Rectangle"/>
          <p:cNvSpPr/>
          <p:nvPr/>
        </p:nvSpPr>
        <p:spPr>
          <a:xfrm>
            <a:off x="7086600" y="6591300"/>
            <a:ext cx="1847850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7277100" y="6686550"/>
            <a:ext cx="1463726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lab_manager</a:t>
            </a:r>
          </a:p>
        </p:txBody>
      </p:sp>
      <p:sp>
        <p:nvSpPr>
          <p:cNvPr id="29" name="Rectangle"/>
          <p:cNvSpPr/>
          <p:nvPr/>
        </p:nvSpPr>
        <p:spPr>
          <a:xfrm>
            <a:off x="9086850" y="6591300"/>
            <a:ext cx="2162175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9277350" y="6686550"/>
            <a:ext cx="1772564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repair_engineer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447800" y="7458075"/>
            <a:ext cx="17713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可查看全部 · 6 / 8</a:t>
            </a:r>
          </a:p>
        </p:txBody>
      </p:sp>
      <p:sp>
        <p:nvSpPr>
          <p:cNvPr id="32" name="Rectangle"/>
          <p:cNvSpPr/>
          <p:nvPr/>
        </p:nvSpPr>
        <p:spPr>
          <a:xfrm>
            <a:off x="4457700" y="7343775"/>
            <a:ext cx="1095375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4648200" y="7439025"/>
            <a:ext cx="708889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admin</a:t>
            </a:r>
          </a:p>
        </p:txBody>
      </p:sp>
      <p:sp>
        <p:nvSpPr>
          <p:cNvPr id="34" name="Rectangle"/>
          <p:cNvSpPr/>
          <p:nvPr/>
        </p:nvSpPr>
        <p:spPr>
          <a:xfrm>
            <a:off x="5705475" y="7343775"/>
            <a:ext cx="1228725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5895975" y="7439025"/>
            <a:ext cx="83896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teacher</a:t>
            </a:r>
          </a:p>
        </p:txBody>
      </p:sp>
      <p:sp>
        <p:nvSpPr>
          <p:cNvPr id="36" name="Rectangle"/>
          <p:cNvSpPr/>
          <p:nvPr/>
        </p:nvSpPr>
        <p:spPr>
          <a:xfrm>
            <a:off x="7086600" y="7343775"/>
            <a:ext cx="1847850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"/>
          <p:cNvSpPr txBox="1"/>
          <p:nvPr/>
        </p:nvSpPr>
        <p:spPr>
          <a:xfrm>
            <a:off x="7277100" y="7439025"/>
            <a:ext cx="1463726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lab_manager</a:t>
            </a:r>
          </a:p>
        </p:txBody>
      </p:sp>
      <p:sp>
        <p:nvSpPr>
          <p:cNvPr id="38" name="Rectangle"/>
          <p:cNvSpPr/>
          <p:nvPr/>
        </p:nvSpPr>
        <p:spPr>
          <a:xfrm>
            <a:off x="9086850" y="7343775"/>
            <a:ext cx="2162175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9277350" y="7439025"/>
            <a:ext cx="1772564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repair_engineer</a:t>
            </a:r>
          </a:p>
        </p:txBody>
      </p:sp>
      <p:sp>
        <p:nvSpPr>
          <p:cNvPr id="40" name="Rectangle"/>
          <p:cNvSpPr/>
          <p:nvPr/>
        </p:nvSpPr>
        <p:spPr>
          <a:xfrm>
            <a:off x="11401425" y="7343775"/>
            <a:ext cx="1857375" cy="523875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11591925" y="7439025"/>
            <a:ext cx="1468526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15803D"/>
                </a:solidFill>
                <a:latin typeface="Noto Sans SC Bold"/>
                <a:ea typeface="Noto Sans SC Bold"/>
                <a:cs typeface="Noto Sans SC Bold"/>
              </a:rPr>
              <a:t>asset_keeper</a:t>
            </a:r>
          </a:p>
        </p:txBody>
      </p:sp>
      <p:sp>
        <p:nvSpPr>
          <p:cNvPr id="42" name="Rectangle"/>
          <p:cNvSpPr/>
          <p:nvPr/>
        </p:nvSpPr>
        <p:spPr>
          <a:xfrm>
            <a:off x="13411200" y="7343775"/>
            <a:ext cx="1609725" cy="523875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13601700" y="7439025"/>
            <a:ext cx="1221638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15803D"/>
                </a:solidFill>
                <a:latin typeface="Noto Sans SC Bold"/>
                <a:ea typeface="Noto Sans SC Bold"/>
                <a:cs typeface="Noto Sans SC Bold"/>
              </a:rPr>
              <a:t>lab_viewer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1447800" y="8096250"/>
            <a:ext cx="1188609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蓝＝与上行同一批角色；绿＝只读观察角色。room_keeper / student_assistant 不在任一白名单 —— 只能看到自己提交的报修单</a:t>
            </a:r>
          </a:p>
        </p:txBody>
      </p:sp>
      <p:sp>
        <p:nvSpPr>
          <p:cNvPr id="45" name="Rectangle"/>
          <p:cNvSpPr/>
          <p:nvPr/>
        </p:nvSpPr>
        <p:spPr>
          <a:xfrm>
            <a:off x="1147763" y="6291263"/>
            <a:ext cx="15992475" cy="2409825"/>
          </a:xfrm>
          <a:prstGeom prst="roundRect">
            <a:avLst>
              <a:gd name="adj" fmla="val 2964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1143000" y="9277350"/>
            <a:ext cx="798888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把口径收在一处，是为了让「改权限」只需要改对一个地方 —— 漏改时也不会静默越权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5213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提问备份 · 数据模型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五张业务表，删除一律是逻辑删除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750067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单据不消失、履历能回溯 —— 代价是不能给业务编号建唯一索引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47625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371600" y="3276600"/>
            <a:ext cx="1005036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lab_room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371600" y="3648075"/>
            <a:ext cx="10477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实验室房间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371600" y="4048125"/>
            <a:ext cx="24140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编号 / 名称 / 学院 / 管理员</a:t>
            </a:r>
          </a:p>
        </p:txBody>
      </p:sp>
      <p:sp>
        <p:nvSpPr>
          <p:cNvPr id="10" name="Rectangle"/>
          <p:cNvSpPr/>
          <p:nvPr/>
        </p:nvSpPr>
        <p:spPr>
          <a:xfrm>
            <a:off x="1147763" y="3052763"/>
            <a:ext cx="47529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6762750" y="3048000"/>
            <a:ext cx="47625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6991350" y="3276600"/>
            <a:ext cx="1027584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lab_asset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991350" y="364807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资产台账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6991350" y="4048125"/>
            <a:ext cx="32186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编号 / 名称 / 归属房间 / 状态 / 价格</a:t>
            </a:r>
          </a:p>
        </p:txBody>
      </p:sp>
      <p:sp>
        <p:nvSpPr>
          <p:cNvPr id="15" name="Rectangle"/>
          <p:cNvSpPr/>
          <p:nvPr/>
        </p:nvSpPr>
        <p:spPr>
          <a:xfrm>
            <a:off x="6767513" y="3052763"/>
            <a:ext cx="47529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12382500" y="3048000"/>
            <a:ext cx="47625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12611100" y="3276600"/>
            <a:ext cx="1075246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lab_repair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2611100" y="364807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报修工单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2611100" y="4048125"/>
            <a:ext cx="27995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编号 / 资产 / 状态 / 成本 / 评分</a:t>
            </a:r>
          </a:p>
        </p:txBody>
      </p:sp>
      <p:sp>
        <p:nvSpPr>
          <p:cNvPr id="20" name="Rectangle"/>
          <p:cNvSpPr/>
          <p:nvPr/>
        </p:nvSpPr>
        <p:spPr>
          <a:xfrm>
            <a:off x="12387263" y="3052763"/>
            <a:ext cx="47529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5905500" y="3857625"/>
            <a:ext cx="85725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11525250" y="3857625"/>
            <a:ext cx="85725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6043479" y="3476625"/>
            <a:ext cx="58129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1 ： N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11663229" y="3476625"/>
            <a:ext cx="58129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1 ： N</a:t>
            </a:r>
          </a:p>
        </p:txBody>
      </p:sp>
      <p:sp>
        <p:nvSpPr>
          <p:cNvPr id="25" name="Rectangle"/>
          <p:cNvSpPr/>
          <p:nvPr/>
        </p:nvSpPr>
        <p:spPr>
          <a:xfrm>
            <a:off x="9144000" y="4667250"/>
            <a:ext cx="9525" cy="6667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4763750" y="4667250"/>
            <a:ext cx="9525" cy="6667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6762750" y="5334000"/>
            <a:ext cx="476250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6991350" y="5562600"/>
            <a:ext cx="1851571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lab_asset_record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6991350" y="5934075"/>
            <a:ext cx="30275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资产履历 · 每次状态变更留一行</a:t>
            </a:r>
          </a:p>
        </p:txBody>
      </p:sp>
      <p:sp>
        <p:nvSpPr>
          <p:cNvPr id="30" name="Rectangle"/>
          <p:cNvSpPr/>
          <p:nvPr/>
        </p:nvSpPr>
        <p:spPr>
          <a:xfrm>
            <a:off x="6767513" y="5338763"/>
            <a:ext cx="4752975" cy="1228725"/>
          </a:xfrm>
          <a:prstGeom prst="roundRect">
            <a:avLst>
              <a:gd name="adj" fmla="val 5813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"/>
          <p:cNvSpPr/>
          <p:nvPr/>
        </p:nvSpPr>
        <p:spPr>
          <a:xfrm>
            <a:off x="12382500" y="5334000"/>
            <a:ext cx="476250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12611100" y="5562600"/>
            <a:ext cx="1902247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lab_repair_record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2611100" y="5934075"/>
            <a:ext cx="30275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报修履历 · 处理时间线由此拼出</a:t>
            </a:r>
          </a:p>
        </p:txBody>
      </p:sp>
      <p:sp>
        <p:nvSpPr>
          <p:cNvPr id="34" name="Rectangle"/>
          <p:cNvSpPr/>
          <p:nvPr/>
        </p:nvSpPr>
        <p:spPr>
          <a:xfrm>
            <a:off x="12387263" y="5338763"/>
            <a:ext cx="4752975" cy="1228725"/>
          </a:xfrm>
          <a:prstGeom prst="roundRect">
            <a:avLst>
              <a:gd name="adj" fmla="val 5813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1143000" y="5334000"/>
            <a:ext cx="4762500" cy="1238250"/>
          </a:xfrm>
          <a:prstGeom prst="roundRect">
            <a:avLst>
              <a:gd name="adj" fmla="val 6153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1371600" y="5562600"/>
            <a:ext cx="18859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B45309"/>
                </a:solidFill>
                <a:latin typeface="Noto Sans SC Bold"/>
                <a:ea typeface="Noto Sans SC Bold"/>
                <a:cs typeface="Noto Sans SC Bold"/>
              </a:rPr>
              <a:t>房间为什么不建履历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1371600" y="5981700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房间不参与闭环，只有资产与工单留痕</a:t>
            </a:r>
          </a:p>
        </p:txBody>
      </p:sp>
      <p:sp>
        <p:nvSpPr>
          <p:cNvPr id="38" name="Rectangle"/>
          <p:cNvSpPr/>
          <p:nvPr/>
        </p:nvSpPr>
        <p:spPr>
          <a:xfrm>
            <a:off x="1147763" y="5338763"/>
            <a:ext cx="4752975" cy="1228725"/>
          </a:xfrm>
          <a:prstGeom prst="roundRect">
            <a:avLst>
              <a:gd name="adj" fmla="val 5813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"/>
          <p:cNvSpPr/>
          <p:nvPr/>
        </p:nvSpPr>
        <p:spPr>
          <a:xfrm>
            <a:off x="1143000" y="7048500"/>
            <a:ext cx="160020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1447800" y="731520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删得了单据，删不掉行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1447800" y="7734300"/>
            <a:ext cx="9317698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列表查询一律带 del_flag = '0'；编号唯一性由 Service 校验承担，不建唯一索引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1447800" y="8239125"/>
            <a:ext cx="81751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唯一索引会与「删掉后重建同编号」冲突 —— 实测返回 500，已用幂等迁移删掉这两个键</a:t>
            </a:r>
          </a:p>
        </p:txBody>
      </p:sp>
      <p:sp>
        <p:nvSpPr>
          <p:cNvPr id="43" name="Rectangle"/>
          <p:cNvSpPr/>
          <p:nvPr/>
        </p:nvSpPr>
        <p:spPr>
          <a:xfrm>
            <a:off x="1147763" y="7053263"/>
            <a:ext cx="15992475" cy="1704975"/>
          </a:xfrm>
          <a:prstGeom prst="roundRect">
            <a:avLst>
              <a:gd name="adj" fmla="val 418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1143000" y="9277350"/>
            <a:ext cx="673221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五张业务表另有 4 张字典表配合 —— 状态与等级的中文名不写死在代码里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33214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提问备份 · 已知不足与处置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67056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五条我们选择容忍的偏差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936757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容忍不等于不知道 —— 每一条都写清了现象、影响与处置路径，答辩时主动说明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143000" y="9277350"/>
            <a:ext cx="649060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五条都在 AGENTS.md 第 7.3 节留有编号 —— 没编号的修复等于没发生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12 / 14</a:t>
            </a:r>
          </a:p>
        </p:txBody>
      </p:sp>
      <p:sp>
        <p:nvSpPr>
          <p:cNvPr id="9" name="Rectangle"/>
          <p:cNvSpPr/>
          <p:nvPr/>
        </p:nvSpPr>
        <p:spPr>
          <a:xfrm>
            <a:off x="1143000" y="3048000"/>
            <a:ext cx="16002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371600" y="3286125"/>
            <a:ext cx="470771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DC2626"/>
                </a:solidFill>
                <a:latin typeface="Inter Bold"/>
                <a:ea typeface="Inter Bold"/>
                <a:cs typeface="Inter Bold"/>
              </a:rPr>
              <a:t>D-01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2762250" y="325755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二维码是相对路径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5962650" y="3257550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手机相机扫不开，只能登录后站内跳转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2401550" y="3257550"/>
            <a:ext cx="2933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F766E"/>
                </a:solidFill>
                <a:latin typeface="Noto Sans SC Bold"/>
                <a:ea typeface="Noto Sans SC Bold"/>
                <a:cs typeface="Noto Sans SC Bold"/>
              </a:rPr>
              <a:t>配一个站点基址即可，属小改动</a:t>
            </a:r>
          </a:p>
        </p:txBody>
      </p:sp>
      <p:sp>
        <p:nvSpPr>
          <p:cNvPr id="14" name="Rectangle"/>
          <p:cNvSpPr/>
          <p:nvPr/>
        </p:nvSpPr>
        <p:spPr>
          <a:xfrm>
            <a:off x="1147763" y="3052763"/>
            <a:ext cx="15992475" cy="714375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1143000" y="3848100"/>
            <a:ext cx="16002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1371600" y="4086225"/>
            <a:ext cx="517429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B45309"/>
                </a:solidFill>
                <a:latin typeface="Inter Bold"/>
                <a:ea typeface="Inter Bold"/>
                <a:cs typeface="Inter Bold"/>
              </a:rPr>
              <a:t>D-06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2762250" y="4057650"/>
            <a:ext cx="2514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前后端状态机是两张手写表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5962650" y="405765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跨语言无法真正共享，后端有矩阵测试兜底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2401550" y="4057650"/>
            <a:ext cx="2305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F766E"/>
                </a:solidFill>
                <a:latin typeface="Noto Sans SC Bold"/>
                <a:ea typeface="Noto Sans SC Bold"/>
                <a:cs typeface="Noto Sans SC Bold"/>
              </a:rPr>
              <a:t>改状态机时人工比对前端</a:t>
            </a:r>
          </a:p>
        </p:txBody>
      </p:sp>
      <p:sp>
        <p:nvSpPr>
          <p:cNvPr id="20" name="Rectangle"/>
          <p:cNvSpPr/>
          <p:nvPr/>
        </p:nvSpPr>
        <p:spPr>
          <a:xfrm>
            <a:off x="1147763" y="3852863"/>
            <a:ext cx="15992475" cy="714375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1143000" y="4648200"/>
            <a:ext cx="16002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371600" y="4886325"/>
            <a:ext cx="51732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B45309"/>
                </a:solidFill>
                <a:latin typeface="Inter Bold"/>
                <a:ea typeface="Inter Bold"/>
                <a:cs typeface="Inter Bold"/>
              </a:rPr>
              <a:t>D-08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2762250" y="4857750"/>
            <a:ext cx="2305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签名密钥有可猜的默认值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962650" y="485775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默认值一旦上线就等于公开，能伪造登录凭证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2401550" y="4857750"/>
            <a:ext cx="2933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F766E"/>
                </a:solidFill>
                <a:latin typeface="Noto Sans SC Bold"/>
                <a:ea typeface="Noto Sans SC Bold"/>
                <a:cs typeface="Noto Sans SC Bold"/>
              </a:rPr>
              <a:t>用环境变量覆盖，写进部署文档</a:t>
            </a:r>
          </a:p>
        </p:txBody>
      </p:sp>
      <p:sp>
        <p:nvSpPr>
          <p:cNvPr id="26" name="Rectangle"/>
          <p:cNvSpPr/>
          <p:nvPr/>
        </p:nvSpPr>
        <p:spPr>
          <a:xfrm>
            <a:off x="1147763" y="4652963"/>
            <a:ext cx="15992475" cy="714375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1143000" y="5448300"/>
            <a:ext cx="16002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1371600" y="5686425"/>
            <a:ext cx="5029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B45309"/>
                </a:solidFill>
                <a:latin typeface="Inter Bold"/>
                <a:ea typeface="Inter Bold"/>
                <a:cs typeface="Inter Bold"/>
              </a:rPr>
              <a:t>D-26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2762250" y="5657850"/>
            <a:ext cx="25498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沙箱拦截 WMIC 会拆命令树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5962650" y="5657850"/>
            <a:ext cx="4400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长流水线有概率被中途掐断，易误判成构建失败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2401550" y="5657850"/>
            <a:ext cx="362877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F766E"/>
                </a:solidFill>
                <a:latin typeface="Noto Sans SC Bold"/>
                <a:ea typeface="Noto Sans SC Bold"/>
                <a:cs typeface="Noto Sans SC Bold"/>
              </a:rPr>
              <a:t>脚本内置重试；CI 在 Linux 上无此问题</a:t>
            </a:r>
          </a:p>
        </p:txBody>
      </p:sp>
      <p:sp>
        <p:nvSpPr>
          <p:cNvPr id="32" name="Rectangle"/>
          <p:cNvSpPr/>
          <p:nvPr/>
        </p:nvSpPr>
        <p:spPr>
          <a:xfrm>
            <a:off x="1147763" y="5453063"/>
            <a:ext cx="15992475" cy="714375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"/>
          <p:cNvSpPr/>
          <p:nvPr/>
        </p:nvSpPr>
        <p:spPr>
          <a:xfrm>
            <a:off x="1143000" y="6248400"/>
            <a:ext cx="16002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1371600" y="6486525"/>
            <a:ext cx="50279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B45309"/>
                </a:solidFill>
                <a:latin typeface="Inter Bold"/>
                <a:ea typeface="Inter Bold"/>
                <a:cs typeface="Inter Bold"/>
              </a:rPr>
              <a:t>D-28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2762250" y="6457950"/>
            <a:ext cx="159865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本机没装 Docker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5962650" y="6457950"/>
            <a:ext cx="40447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容器未真跑，镜像与冒烟两段恒为 SKIPPED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12401550" y="6457950"/>
            <a:ext cx="3143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F766E"/>
                </a:solidFill>
                <a:latin typeface="Noto Sans SC Bold"/>
                <a:ea typeface="Noto Sans SC Bold"/>
                <a:cs typeface="Noto Sans SC Bold"/>
              </a:rPr>
              <a:t>改用静态断言与环境变量绑定实证</a:t>
            </a:r>
          </a:p>
        </p:txBody>
      </p:sp>
      <p:sp>
        <p:nvSpPr>
          <p:cNvPr id="38" name="Rectangle"/>
          <p:cNvSpPr/>
          <p:nvPr/>
        </p:nvSpPr>
        <p:spPr>
          <a:xfrm>
            <a:off x="1147763" y="6253163"/>
            <a:ext cx="15992475" cy="714375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"/>
          <p:cNvSpPr/>
          <p:nvPr/>
        </p:nvSpPr>
        <p:spPr>
          <a:xfrm>
            <a:off x="1143000" y="7258050"/>
            <a:ext cx="16002000" cy="16002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1447800" y="752475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处置原则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1447800" y="7943850"/>
            <a:ext cx="11659322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容忍的标准是影响可控、且修复成本高于收益 —— 而像 D-10 那种用户可感知的缺陷，一律当场修掉</a:t>
            </a:r>
          </a:p>
        </p:txBody>
      </p:sp>
      <p:sp>
        <p:nvSpPr>
          <p:cNvPr id="42" name="Rectangle"/>
          <p:cNvSpPr/>
          <p:nvPr/>
        </p:nvSpPr>
        <p:spPr>
          <a:xfrm>
            <a:off x="1147763" y="7262813"/>
            <a:ext cx="15992475" cy="1590675"/>
          </a:xfrm>
          <a:prstGeom prst="roundRect">
            <a:avLst>
              <a:gd name="adj" fmla="val 4491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2546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提问备份 · 工作量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7315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这套系统到底做了多少东西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670057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每一个数字都能在仓库里用一条命令复算 —— 不给估算值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371600" y="3276600"/>
            <a:ext cx="646956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28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371600" y="4019550"/>
            <a:ext cx="3164967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个 REST 接口，分在 4 个控制器</a:t>
            </a:r>
          </a:p>
        </p:txBody>
      </p:sp>
      <p:sp>
        <p:nvSpPr>
          <p:cNvPr id="9" name="Rectangle"/>
          <p:cNvSpPr/>
          <p:nvPr/>
        </p:nvSpPr>
        <p:spPr>
          <a:xfrm>
            <a:off x="1147763" y="305276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6591300" y="304800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6819900" y="3276600"/>
            <a:ext cx="329208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9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819900" y="4019550"/>
            <a:ext cx="335699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张数据表 —— 5 张业务 + 4 张字典</a:t>
            </a:r>
          </a:p>
        </p:txBody>
      </p:sp>
      <p:sp>
        <p:nvSpPr>
          <p:cNvPr id="13" name="Rectangle"/>
          <p:cNvSpPr/>
          <p:nvPr/>
        </p:nvSpPr>
        <p:spPr>
          <a:xfrm>
            <a:off x="6596063" y="305276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12039600" y="304800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12268200" y="3276600"/>
            <a:ext cx="648519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29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2268200" y="4019550"/>
            <a:ext cx="36576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个生产类，全部收在一个自定义包内</a:t>
            </a:r>
          </a:p>
        </p:txBody>
      </p:sp>
      <p:sp>
        <p:nvSpPr>
          <p:cNvPr id="17" name="Rectangle"/>
          <p:cNvSpPr/>
          <p:nvPr/>
        </p:nvSpPr>
        <p:spPr>
          <a:xfrm>
            <a:off x="12044363" y="305276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1143000" y="485775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371600" y="5086350"/>
            <a:ext cx="679512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49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371600" y="5829300"/>
            <a:ext cx="3382138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个测试用例 —— 33 单元 + 16 集成</a:t>
            </a:r>
          </a:p>
        </p:txBody>
      </p:sp>
      <p:sp>
        <p:nvSpPr>
          <p:cNvPr id="21" name="Rectangle"/>
          <p:cNvSpPr/>
          <p:nvPr/>
        </p:nvSpPr>
        <p:spPr>
          <a:xfrm>
            <a:off x="1147763" y="486251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2563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6591300" y="485775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6819900" y="5086350"/>
            <a:ext cx="329208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9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6819900" y="5829300"/>
            <a:ext cx="3047009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个 SQL 脚本，全部可重复执行</a:t>
            </a:r>
          </a:p>
        </p:txBody>
      </p:sp>
      <p:sp>
        <p:nvSpPr>
          <p:cNvPr id="25" name="Rectangle"/>
          <p:cNvSpPr/>
          <p:nvPr/>
        </p:nvSpPr>
        <p:spPr>
          <a:xfrm>
            <a:off x="6596063" y="486251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2039600" y="485775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12268200" y="5086350"/>
            <a:ext cx="350304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4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2268200" y="5829300"/>
            <a:ext cx="4033419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个业务模块 —— 房间 / 资产 / 报修 / 看板</a:t>
            </a:r>
          </a:p>
        </p:txBody>
      </p:sp>
      <p:sp>
        <p:nvSpPr>
          <p:cNvPr id="29" name="Rectangle"/>
          <p:cNvSpPr/>
          <p:nvPr/>
        </p:nvSpPr>
        <p:spPr>
          <a:xfrm>
            <a:off x="12044363" y="486251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1143000" y="7048500"/>
            <a:ext cx="160020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447800" y="73152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口径说明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447800" y="7734300"/>
            <a:ext cx="9100871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以上数字都能用一条命令复算 —— 测试数取自实跑日志，接口数取自注解计数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447800" y="8239125"/>
            <a:ext cx="7389973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Inter"/>
                <a:ea typeface="Inter"/>
                <a:cs typeface="Inter"/>
              </a:rPr>
              <a:t>本次实跑记录：Tests run: 49, Failures: 0, Errors: 0, Skipped: 0（提交 1668e4a）</a:t>
            </a:r>
          </a:p>
        </p:txBody>
      </p:sp>
      <p:sp>
        <p:nvSpPr>
          <p:cNvPr id="34" name="Rectangle"/>
          <p:cNvSpPr/>
          <p:nvPr/>
        </p:nvSpPr>
        <p:spPr>
          <a:xfrm>
            <a:off x="1147763" y="7053263"/>
            <a:ext cx="15992475" cy="1704975"/>
          </a:xfrm>
          <a:prstGeom prst="roundRect">
            <a:avLst>
              <a:gd name="adj" fmla="val 418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1143000" y="9277350"/>
            <a:ext cx="736023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规模不按代码行数论 —— 论的是每条业务规则有没有落点、每个数字能不能复算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3168129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收尾 · 分工与 AI 使用声明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804550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谁做了什么，AI 参与了哪一段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830103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AI 的输出一律经人工复核后才进入交付，每一次改动都留有编号与留痕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781050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09700" y="3314700"/>
            <a:ext cx="36516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组员分工 · 第 6 组 · 软件工程 2023-2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09700" y="3771900"/>
            <a:ext cx="2549119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01　王旻辉 · 待认领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09700" y="4314825"/>
            <a:ext cx="4149319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02　巴力江·托力肯别克 · 待认领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409700" y="4857750"/>
            <a:ext cx="2282419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03　廖煌 · 待认领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409700" y="5400675"/>
            <a:ext cx="4682719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04　迪丽热巴·阿布都西克尔 · 待认领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409700" y="5943600"/>
            <a:ext cx="67942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分工认领尚待确认（问题 Q-08）；确认后只替换本栏文字，页面结构不动</a:t>
            </a:r>
          </a:p>
        </p:txBody>
      </p:sp>
      <p:sp>
        <p:nvSpPr>
          <p:cNvPr id="13" name="Rectangle"/>
          <p:cNvSpPr/>
          <p:nvPr/>
        </p:nvSpPr>
        <p:spPr>
          <a:xfrm>
            <a:off x="1147763" y="3052763"/>
            <a:ext cx="7800975" cy="3800475"/>
          </a:xfrm>
          <a:prstGeom prst="roundRect">
            <a:avLst>
              <a:gd name="adj" fmla="val 187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9334500" y="3048000"/>
            <a:ext cx="781050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9601199" y="3314700"/>
            <a:ext cx="30655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AI 使用声明 · 六个角色各领一块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9601200" y="3733800"/>
            <a:ext cx="72771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产品经理 · 需求基线、任务卡与偏移台账</a:t>
            </a:r>
            <a:br>
              <a:rPr lang="en-US" sz="1650">
                <a:latin typeface="Noto Sans SC"/>
                <a:ea typeface="Noto Sans SC"/>
                <a:cs typeface="Noto Sans SC"/>
              </a:rPr>
            </a:b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代码负责 · 前后端实现、CI/CD 与容器化</a:t>
            </a:r>
            <a:br>
              <a:rPr lang="en-US" sz="1650">
                <a:latin typeface="Noto Sans SC"/>
                <a:ea typeface="Noto Sans SC"/>
                <a:cs typeface="Noto Sans SC"/>
              </a:rPr>
            </a:b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测试负责 · T1/T2，49 个用例全绿</a:t>
            </a:r>
            <a:br>
              <a:rPr lang="en-US" sz="1650">
                <a:latin typeface="Noto Sans SC"/>
                <a:ea typeface="Noto Sans SC"/>
                <a:cs typeface="Noto Sans SC"/>
              </a:rPr>
            </a:b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文档负责 · 五份交付文档</a:t>
            </a:r>
            <a:br>
              <a:rPr lang="en-US" sz="1650">
                <a:latin typeface="Noto Sans SC"/>
                <a:ea typeface="Noto Sans SC"/>
                <a:cs typeface="Noto Sans SC"/>
              </a:rPr>
            </a:b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UI 设计 · T6，界面统一与答辩截图</a:t>
            </a:r>
            <a:br>
              <a:rPr lang="en-US" sz="1650">
                <a:latin typeface="Noto Sans SC"/>
                <a:ea typeface="Noto Sans SC"/>
                <a:cs typeface="Noto Sans SC"/>
              </a:rPr>
            </a:b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PPT 和设计 · D2，这份答辩稿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9601200" y="5676900"/>
            <a:ext cx="1466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B45309"/>
                </a:solidFill>
                <a:latin typeface="Noto Sans SC Bold"/>
                <a:ea typeface="Noto Sans SC Bold"/>
                <a:cs typeface="Noto Sans SC Bold"/>
              </a:rPr>
              <a:t>人工把关的环节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9601200" y="60960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缺陷判定与流程纠偏、状态机与权限口径验收、容忍偏差的取舍决策</a:t>
            </a:r>
          </a:p>
        </p:txBody>
      </p:sp>
      <p:sp>
        <p:nvSpPr>
          <p:cNvPr id="19" name="Rectangle"/>
          <p:cNvSpPr/>
          <p:nvPr/>
        </p:nvSpPr>
        <p:spPr>
          <a:xfrm>
            <a:off x="9339263" y="3052763"/>
            <a:ext cx="7800975" cy="3800475"/>
          </a:xfrm>
          <a:prstGeom prst="roundRect">
            <a:avLst>
              <a:gd name="adj" fmla="val 187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1143000" y="7143750"/>
            <a:ext cx="160020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447800" y="741045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三条红线</a:t>
            </a:r>
          </a:p>
        </p:txBody>
      </p:sp>
      <p:sp>
        <p:nvSpPr>
          <p:cNvPr id="22" name="Rectangle"/>
          <p:cNvSpPr/>
          <p:nvPr/>
        </p:nvSpPr>
        <p:spPr>
          <a:xfrm>
            <a:off x="1447800" y="7905750"/>
            <a:ext cx="3486150" cy="523875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1638300" y="8001000"/>
            <a:ext cx="310050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DC2626"/>
                </a:solidFill>
                <a:latin typeface="Noto Sans SC Bold"/>
                <a:ea typeface="Noto Sans SC Bold"/>
                <a:cs typeface="Noto Sans SC Bold"/>
              </a:rPr>
              <a:t>查重率 ≤ 30%（含代码注释）</a:t>
            </a:r>
          </a:p>
        </p:txBody>
      </p:sp>
      <p:sp>
        <p:nvSpPr>
          <p:cNvPr id="24" name="Rectangle"/>
          <p:cNvSpPr/>
          <p:nvPr/>
        </p:nvSpPr>
        <p:spPr>
          <a:xfrm>
            <a:off x="5086350" y="7905750"/>
            <a:ext cx="3448050" cy="523875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5276850" y="8001000"/>
            <a:ext cx="3063926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DC2626"/>
                </a:solidFill>
                <a:latin typeface="Noto Sans SC Bold"/>
                <a:ea typeface="Noto Sans SC Bold"/>
                <a:cs typeface="Noto Sans SC Bold"/>
              </a:rPr>
              <a:t>每份文档开头写明 AI 使用段落</a:t>
            </a:r>
          </a:p>
        </p:txBody>
      </p:sp>
      <p:sp>
        <p:nvSpPr>
          <p:cNvPr id="26" name="Rectangle"/>
          <p:cNvSpPr/>
          <p:nvPr/>
        </p:nvSpPr>
        <p:spPr>
          <a:xfrm>
            <a:off x="8686800" y="7905750"/>
            <a:ext cx="3352800" cy="523875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8877300" y="8001000"/>
            <a:ext cx="29718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DC2626"/>
                </a:solidFill>
                <a:latin typeface="Noto Sans SC Bold"/>
                <a:ea typeface="Noto Sans SC Bold"/>
                <a:cs typeface="Noto Sans SC Bold"/>
              </a:rPr>
              <a:t>答辩全员参与，教师随机点人</a:t>
            </a:r>
          </a:p>
        </p:txBody>
      </p:sp>
      <p:sp>
        <p:nvSpPr>
          <p:cNvPr id="28" name="Rectangle"/>
          <p:cNvSpPr/>
          <p:nvPr/>
        </p:nvSpPr>
        <p:spPr>
          <a:xfrm>
            <a:off x="1147763" y="7148513"/>
            <a:ext cx="159924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1143000" y="9277350"/>
            <a:ext cx="701426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每一份 AI 留痕都保留完整提示词与人工修改点 —— 可追溯到具体某一次对话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PAGX</Application>
  <Paragraphs>0</Paragraphs>
  <Slides>14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</cp:coreProperties>
</file>